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87" r:id="rId3"/>
    <p:sldId id="257" r:id="rId4"/>
    <p:sldId id="288" r:id="rId5"/>
    <p:sldId id="289" r:id="rId6"/>
    <p:sldId id="263" r:id="rId7"/>
    <p:sldId id="262" r:id="rId8"/>
    <p:sldId id="290" r:id="rId9"/>
    <p:sldId id="291" r:id="rId10"/>
    <p:sldId id="261" r:id="rId11"/>
    <p:sldId id="265" r:id="rId12"/>
    <p:sldId id="266" r:id="rId13"/>
    <p:sldId id="267" r:id="rId14"/>
    <p:sldId id="278" r:id="rId15"/>
    <p:sldId id="272" r:id="rId16"/>
    <p:sldId id="273" r:id="rId17"/>
    <p:sldId id="268" r:id="rId18"/>
    <p:sldId id="260" r:id="rId19"/>
    <p:sldId id="269" r:id="rId20"/>
    <p:sldId id="274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79" r:id="rId29"/>
    <p:sldId id="275" r:id="rId30"/>
    <p:sldId id="276" r:id="rId31"/>
    <p:sldId id="277" r:id="rId32"/>
    <p:sldId id="259" r:id="rId33"/>
    <p:sldId id="270" r:id="rId34"/>
    <p:sldId id="258" r:id="rId35"/>
    <p:sldId id="27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3287"/>
  </p:normalViewPr>
  <p:slideViewPr>
    <p:cSldViewPr snapToGrid="0">
      <p:cViewPr varScale="1">
        <p:scale>
          <a:sx n="39" d="100"/>
          <a:sy n="39" d="100"/>
        </p:scale>
        <p:origin x="184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AA3B8-C3F3-BA46-8C6E-E14CA9627567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8AF77-E50E-2B45-BEA3-FAD2ED38D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7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Steve Crocker:   contributed to development of email systems standards, Host-Host protocol, initiating the RFC (Request for Comments) for the development of network protocols</a:t>
            </a:r>
            <a:br>
              <a:rPr lang="en-US" dirty="0"/>
            </a:br>
            <a:r>
              <a:rPr lang="en-US" dirty="0"/>
              <a:t>Vincent Cerf: contributed to development of TCP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8AF77-E50E-2B45-BEA3-FAD2ED38D6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04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AC52E-C955-D485-7C56-36909A1A9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D5E1C-4059-574D-EB80-00CA0A903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CB75F-26A4-9890-D057-AD225F5B2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89C0D-DA28-A72B-8E13-D5E17E1B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89A77-CAEF-2477-EC26-B77576E0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02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F1BB-9B8B-EBEC-D7AF-A86BF32EA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85CD6-FB05-3883-56A7-1D690F779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17F2D-96A5-DE5E-13CA-E6574FD3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70A94-2BA8-3744-70E8-ED9EB0FDA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8F9DA-1D10-C640-21E7-BBF7205E6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0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349B1-0EBB-5399-A84C-54D844360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F39E1-CF53-31FE-A5D2-5D8A77ED3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05ECE-28BA-B7E5-1DD1-434366FC1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9EF17-13F6-771B-D197-41C4505E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29A12-DF5E-6DE4-C889-1B396D74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94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E0E8F-97AB-5B74-1036-D46EAED3B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4C134-9916-1AB2-214C-A709006DDA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A15EC-FA5F-249E-4619-75DF7423E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3CAEE-12E8-9958-5B53-580A08513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AB889-810B-A573-FC79-EBA9E77F2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04031-FBF9-4DDE-538F-CBC997C1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5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B0DD1-F3E9-A537-F02A-75F0AE100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6E33C-75B8-2632-C046-D960951D5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9B3CD-8342-9932-0BA6-8CF0E4600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7782F-A55A-736C-2B15-769A5E1D7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23919-C415-9A86-2486-1D85A8D30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CB4115-292A-178B-987E-D2AED898A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0780A-5EEF-79E0-F576-8B18A5CDD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C4114F-E49C-7A42-6352-9AAA4400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027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838FC-FCA0-7999-9E99-906E60509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C8AC6-A8AC-E81B-EE30-B02A5F64A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B404C8-61D0-E02D-72C4-F00646F6B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E5A4F-97A4-942E-EE46-6A2398185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33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ECD710-3168-EE20-F9B2-41C532894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CEF044-E576-7222-85CC-4F55FDDF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E823E-3A87-AB72-F4CD-34B804C79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943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310C0-BBA7-BAB9-F40C-25F9D04BE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09651-5F91-4EC4-8603-5A4EE1CE3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91AE7-32BD-434B-6F34-61142C2B9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B14DC-4F4E-C1FA-7DD5-A1D86CC1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42614-8EE5-FBAD-3E6A-C2AB6ED43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5B591-C80F-312C-19E8-04112CDFC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67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F99C-23D7-0019-359E-C13A3A67F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A9400E-E2D4-67AB-6EDB-8F77AA76F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487B0-AE96-8C05-ED1D-D7DE3D766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B9189-72C5-7049-E358-C75B0CE95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FA544-C2A0-7570-5688-B50C3C4E8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9DDB6-46FF-1904-840F-E24B0AC5B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19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7119-842F-5C8D-7AD9-5B14990D4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43754-987E-FB61-41A4-450BB13B6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14C9E-CD9F-9E98-57DF-A444B2B5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DE1D3-842E-EB8A-000F-AEBAA163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D7EEA-DE66-284C-98ED-1394E3B5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82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8CE366-FD60-7505-9B25-58714B99B6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DC3AD-7F90-1FC7-1FB1-C7B347A5B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52357-C767-0D91-10A4-A4D7B84C9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674E9-07D5-30B2-6DA7-9C843C430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83B99-4F7C-858D-A41D-01CDDBDEE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37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43468A-1BDA-A575-AC5A-3BFD92DB6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1C09A-1705-D3B7-AE50-5DB958355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9E9CA-E1B0-DC22-5725-E96FA233F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5777D-2F08-6C0F-7DD7-BF2482C5B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E659F-38D5-E6EC-51B1-D1792AE66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69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6DEBE-C73A-B26F-6F00-F25839A06F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Networking: </a:t>
            </a:r>
            <a:br>
              <a:rPr lang="en-US" dirty="0"/>
            </a:br>
            <a:r>
              <a:rPr lang="en-US" dirty="0"/>
              <a:t>a brief history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96647-74BF-A047-4D7C-21473DC230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CSCI 101</a:t>
            </a:r>
          </a:p>
        </p:txBody>
      </p:sp>
    </p:spTree>
    <p:extLst>
      <p:ext uri="{BB962C8B-B14F-4D97-AF65-F5344CB8AC3E}">
        <p14:creationId xmlns:p14="http://schemas.microsoft.com/office/powerpoint/2010/main" val="3830361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C3C0D-3AE9-B9FE-33F1-4AD509523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Challenge: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5CCC5-5F7A-7546-3996-CE7DD2A37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that computers do stuff, how do you get computers to talk to each other?</a:t>
            </a:r>
          </a:p>
          <a:p>
            <a:r>
              <a:rPr lang="en-US" dirty="0"/>
              <a:t>Different manufacturers – different hardware</a:t>
            </a:r>
          </a:p>
          <a:p>
            <a:r>
              <a:rPr lang="en-US" dirty="0"/>
              <a:t>Different operating systems – different data formats</a:t>
            </a:r>
          </a:p>
          <a:p>
            <a:r>
              <a:rPr lang="en-US" dirty="0"/>
              <a:t>Geographical distances – unreliable transmission media</a:t>
            </a:r>
          </a:p>
          <a:p>
            <a:endParaRPr lang="en-US" dirty="0"/>
          </a:p>
          <a:p>
            <a:r>
              <a:rPr lang="en-US" dirty="0"/>
              <a:t>Clear need for standardization and collaboration</a:t>
            </a:r>
          </a:p>
        </p:txBody>
      </p:sp>
    </p:spTree>
    <p:extLst>
      <p:ext uri="{BB962C8B-B14F-4D97-AF65-F5344CB8AC3E}">
        <p14:creationId xmlns:p14="http://schemas.microsoft.com/office/powerpoint/2010/main" val="3788550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document&#10;&#10;Description automatically generated">
            <a:extLst>
              <a:ext uri="{FF2B5EF4-FFF2-40B4-BE49-F238E27FC236}">
                <a16:creationId xmlns:a16="http://schemas.microsoft.com/office/drawing/2014/main" id="{D4EAF43F-2554-CFF4-0B72-BF273B6AF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416" y="365125"/>
            <a:ext cx="7167981" cy="59213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1997D2-7CEE-F5DB-B140-0E0DCEC7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603" y="365125"/>
            <a:ext cx="6757234" cy="1635125"/>
          </a:xfrm>
        </p:spPr>
        <p:txBody>
          <a:bodyPr>
            <a:normAutofit/>
          </a:bodyPr>
          <a:lstStyle/>
          <a:p>
            <a:r>
              <a:rPr lang="en-US" dirty="0"/>
              <a:t>Packet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1FF84-C381-A2F2-6386-7100B7E86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98" y="2367758"/>
            <a:ext cx="3981981" cy="391874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1961: </a:t>
            </a:r>
            <a:r>
              <a:rPr lang="en-US" dirty="0"/>
              <a:t>Leonard Kleinrock publishes </a:t>
            </a:r>
            <a:br>
              <a:rPr lang="en-US" dirty="0"/>
            </a:br>
            <a:r>
              <a:rPr lang="en-US" dirty="0"/>
              <a:t>his first paper on packet switching theory </a:t>
            </a:r>
          </a:p>
        </p:txBody>
      </p:sp>
    </p:spTree>
    <p:extLst>
      <p:ext uri="{BB962C8B-B14F-4D97-AF65-F5344CB8AC3E}">
        <p14:creationId xmlns:p14="http://schemas.microsoft.com/office/powerpoint/2010/main" val="3205537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F2149-19BC-F832-10A6-73C5D9236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Leonard’s Big Idea: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3D2BB-4675-C566-EF8A-3EAF7B886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problem:  Circuit switching wastes resources</a:t>
            </a:r>
          </a:p>
          <a:p>
            <a:pPr lvl="1"/>
            <a:r>
              <a:rPr lang="en-US" dirty="0"/>
              <a:t>Dedicated paths sit idle during processing</a:t>
            </a:r>
          </a:p>
          <a:p>
            <a:pPr lvl="1"/>
            <a:r>
              <a:rPr lang="en-US" dirty="0"/>
              <a:t>Expensive network infrastructure underused</a:t>
            </a:r>
          </a:p>
          <a:p>
            <a:pPr marL="0" indent="0">
              <a:buNone/>
            </a:pPr>
            <a:r>
              <a:rPr lang="en-US" dirty="0"/>
              <a:t>The solution: Break messages into packets</a:t>
            </a:r>
          </a:p>
          <a:p>
            <a:pPr lvl="1"/>
            <a:r>
              <a:rPr lang="en-US" dirty="0"/>
              <a:t>Small independent pieces</a:t>
            </a:r>
          </a:p>
          <a:p>
            <a:pPr lvl="1"/>
            <a:r>
              <a:rPr lang="en-US" dirty="0"/>
              <a:t>Share network infrastructure</a:t>
            </a:r>
          </a:p>
          <a:p>
            <a:pPr lvl="1"/>
            <a:r>
              <a:rPr lang="en-US" dirty="0"/>
              <a:t>Automatic rerouting around failures</a:t>
            </a:r>
          </a:p>
          <a:p>
            <a:pPr marL="0" indent="0">
              <a:buNone/>
            </a:pPr>
            <a:r>
              <a:rPr lang="en-US" dirty="0"/>
              <a:t>Foundation:  Information Flow in Large Communication</a:t>
            </a:r>
          </a:p>
          <a:p>
            <a:pPr lvl="1"/>
            <a:r>
              <a:rPr lang="en-US" dirty="0"/>
              <a:t>Mathematical proof using queuing theory</a:t>
            </a:r>
          </a:p>
        </p:txBody>
      </p:sp>
    </p:spTree>
    <p:extLst>
      <p:ext uri="{BB962C8B-B14F-4D97-AF65-F5344CB8AC3E}">
        <p14:creationId xmlns:p14="http://schemas.microsoft.com/office/powerpoint/2010/main" val="1774391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181C4-19FB-F410-9E0F-F1320FE2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vs Packet Switching:  Book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A297F-EF01-A963-78D1-77DBF79CD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Circuit Switching:</a:t>
            </a:r>
          </a:p>
          <a:p>
            <a:pPr lvl="1"/>
            <a:r>
              <a:rPr lang="en-US" dirty="0"/>
              <a:t>Reserve entire mail truck for one book</a:t>
            </a:r>
          </a:p>
          <a:p>
            <a:pPr lvl="1"/>
            <a:r>
              <a:rPr lang="en-US" dirty="0"/>
              <a:t>Wasteful, but guaranteed delivery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Packet Switching:</a:t>
            </a:r>
          </a:p>
          <a:p>
            <a:pPr lvl="1"/>
            <a:r>
              <a:rPr lang="en-US" dirty="0"/>
              <a:t>Mail each page separately</a:t>
            </a:r>
          </a:p>
          <a:p>
            <a:pPr lvl="1"/>
            <a:r>
              <a:rPr lang="en-US" dirty="0"/>
              <a:t>Efficient use of postal system</a:t>
            </a:r>
          </a:p>
          <a:p>
            <a:pPr lvl="1"/>
            <a:r>
              <a:rPr lang="en-US" dirty="0"/>
              <a:t>Pages reassembled at destination</a:t>
            </a:r>
          </a:p>
        </p:txBody>
      </p:sp>
    </p:spTree>
    <p:extLst>
      <p:ext uri="{BB962C8B-B14F-4D97-AF65-F5344CB8AC3E}">
        <p14:creationId xmlns:p14="http://schemas.microsoft.com/office/powerpoint/2010/main" val="1531104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elephone and tape measure&#10;&#10;Description automatically generated with medium confidence">
            <a:extLst>
              <a:ext uri="{FF2B5EF4-FFF2-40B4-BE49-F238E27FC236}">
                <a16:creationId xmlns:a16="http://schemas.microsoft.com/office/drawing/2014/main" id="{5A7AC604-3704-16E8-D971-4071F329C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59" y="2082119"/>
            <a:ext cx="2972745" cy="38664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1997D2-7CEE-F5DB-B140-0E0DCEC7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15144" cy="1635125"/>
          </a:xfrm>
        </p:spPr>
        <p:txBody>
          <a:bodyPr>
            <a:normAutofit/>
          </a:bodyPr>
          <a:lstStyle/>
          <a:p>
            <a:r>
              <a:rPr lang="en-US" dirty="0"/>
              <a:t>First Connection (1965): MIT to California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1FF84-C381-A2F2-6386-7100B7E86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9374" y="2082119"/>
            <a:ext cx="8055397" cy="432301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1965</a:t>
            </a:r>
            <a:r>
              <a:rPr lang="en-US" dirty="0"/>
              <a:t>: The first computer-to-computer communication over a telephone line is achieved by Lawrence G. Roberts and Thomas Merrill</a:t>
            </a:r>
          </a:p>
          <a:p>
            <a:pPr lvl="1"/>
            <a:r>
              <a:rPr lang="en-US" b="1" dirty="0"/>
              <a:t>Bell 103A Modem </a:t>
            </a:r>
            <a:r>
              <a:rPr lang="en-US" dirty="0"/>
              <a:t>(Similar specs to what was used)</a:t>
            </a:r>
          </a:p>
          <a:p>
            <a:pPr lvl="1"/>
            <a:r>
              <a:rPr lang="en-US" b="1" dirty="0"/>
              <a:t>Data Rate:</a:t>
            </a:r>
            <a:r>
              <a:rPr lang="en-US" dirty="0"/>
              <a:t> 300 bits per second (bps) </a:t>
            </a:r>
          </a:p>
          <a:p>
            <a:pPr lvl="1"/>
            <a:r>
              <a:rPr lang="en-US" dirty="0"/>
              <a:t>About 37 characters of text per second</a:t>
            </a:r>
          </a:p>
          <a:p>
            <a:pPr lvl="1"/>
            <a:r>
              <a:rPr lang="en-US" b="1" dirty="0"/>
              <a:t>Connection Type:</a:t>
            </a:r>
            <a:r>
              <a:rPr lang="en-US" dirty="0"/>
              <a:t> Dial-up, using analog telephone lines</a:t>
            </a:r>
          </a:p>
          <a:p>
            <a:pPr marL="0" indent="0">
              <a:buNone/>
            </a:pPr>
            <a:r>
              <a:rPr lang="en-US" dirty="0"/>
              <a:t>Took several tries, finally worked!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Proved remote computer communication was feasible</a:t>
            </a:r>
          </a:p>
        </p:txBody>
      </p:sp>
    </p:spTree>
    <p:extLst>
      <p:ext uri="{BB962C8B-B14F-4D97-AF65-F5344CB8AC3E}">
        <p14:creationId xmlns:p14="http://schemas.microsoft.com/office/powerpoint/2010/main" val="3643397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9407F-D938-BE62-5B4F-8AFDC91E1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Birth of ARPANET (1969)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C27CF-815E-5509-04A6-98E87B671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First Packet-Switched Network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Funded by the U.S. Department of Defense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Goal: to develop a resilient (withstand nuclear attack), decentralized communication network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becomes the first packet-switched network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Network Control Protocol (NCP) for communication between nodes.</a:t>
            </a:r>
          </a:p>
          <a:p>
            <a:r>
              <a:rPr lang="en-US" dirty="0"/>
              <a:t>precursor to the Internet.</a:t>
            </a:r>
          </a:p>
          <a:p>
            <a:r>
              <a:rPr lang="en-US" dirty="0"/>
              <a:t>Leadership:  Steve Crocker, Vincent Cerf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865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D07BD-C91D-E3AF-558C-8E9FA6D6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ARPANET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52F0F3-2FAD-BB29-81B2-CAD95E886BF9}"/>
              </a:ext>
            </a:extLst>
          </p:cNvPr>
          <p:cNvSpPr/>
          <p:nvPr/>
        </p:nvSpPr>
        <p:spPr>
          <a:xfrm>
            <a:off x="2404533" y="2167467"/>
            <a:ext cx="2506134" cy="1261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UCLA</a:t>
            </a:r>
            <a:br>
              <a:rPr lang="en-US" dirty="0"/>
            </a:br>
            <a:r>
              <a:rPr lang="en-US" dirty="0"/>
              <a:t> (Kleinrock’s lab)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24CBC0-1F04-A673-CA85-4D9006FAF47B}"/>
              </a:ext>
            </a:extLst>
          </p:cNvPr>
          <p:cNvSpPr/>
          <p:nvPr/>
        </p:nvSpPr>
        <p:spPr>
          <a:xfrm>
            <a:off x="5793909" y="2167467"/>
            <a:ext cx="2506134" cy="1261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Stanford </a:t>
            </a:r>
            <a:br>
              <a:rPr lang="en-US" dirty="0"/>
            </a:br>
            <a:r>
              <a:rPr lang="en-US" dirty="0"/>
              <a:t>Research Institute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0B2DDD-E8D3-269E-E5A5-5FAF15187DDF}"/>
              </a:ext>
            </a:extLst>
          </p:cNvPr>
          <p:cNvSpPr/>
          <p:nvPr/>
        </p:nvSpPr>
        <p:spPr>
          <a:xfrm>
            <a:off x="2404533" y="3905779"/>
            <a:ext cx="2506134" cy="1261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UC</a:t>
            </a:r>
            <a:br>
              <a:rPr lang="en-US" dirty="0"/>
            </a:br>
            <a:r>
              <a:rPr lang="en-US" dirty="0"/>
              <a:t>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F6840-98BF-C88C-5653-72C30878C3C1}"/>
              </a:ext>
            </a:extLst>
          </p:cNvPr>
          <p:cNvSpPr/>
          <p:nvPr/>
        </p:nvSpPr>
        <p:spPr>
          <a:xfrm>
            <a:off x="5793909" y="3823483"/>
            <a:ext cx="2506134" cy="1261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University</a:t>
            </a:r>
            <a:br>
              <a:rPr lang="en-US" dirty="0"/>
            </a:br>
            <a:r>
              <a:rPr lang="en-US" dirty="0"/>
              <a:t>of Utah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F6ED9E-8E40-DF1D-C7BE-EB7DD2688949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910667" y="2798234"/>
            <a:ext cx="8832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1304C0-4AC7-9BEE-2A05-5DFF59F89134}"/>
              </a:ext>
            </a:extLst>
          </p:cNvPr>
          <p:cNvCxnSpPr>
            <a:stCxn id="5" idx="1"/>
          </p:cNvCxnSpPr>
          <p:nvPr/>
        </p:nvCxnSpPr>
        <p:spPr>
          <a:xfrm flipH="1">
            <a:off x="4910667" y="2798234"/>
            <a:ext cx="883242" cy="110754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F75251-C939-1704-82F8-12A723576E61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3657600" y="3429000"/>
            <a:ext cx="0" cy="4767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3EE0FB-F09C-C38F-4687-9283BFB7DC2E}"/>
              </a:ext>
            </a:extLst>
          </p:cNvPr>
          <p:cNvCxnSpPr>
            <a:stCxn id="6" idx="3"/>
          </p:cNvCxnSpPr>
          <p:nvPr/>
        </p:nvCxnSpPr>
        <p:spPr>
          <a:xfrm flipV="1">
            <a:off x="4910667" y="4536545"/>
            <a:ext cx="88324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345C671-0C50-3139-D0D6-463AA1199F52}"/>
              </a:ext>
            </a:extLst>
          </p:cNvPr>
          <p:cNvSpPr txBox="1"/>
          <p:nvPr/>
        </p:nvSpPr>
        <p:spPr>
          <a:xfrm>
            <a:off x="9582912" y="5085016"/>
            <a:ext cx="17979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UCLA – SRI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SRI – UCSB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UCLA UCSB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UCSB – Utah</a:t>
            </a:r>
          </a:p>
        </p:txBody>
      </p:sp>
    </p:spTree>
    <p:extLst>
      <p:ext uri="{BB962C8B-B14F-4D97-AF65-F5344CB8AC3E}">
        <p14:creationId xmlns:p14="http://schemas.microsoft.com/office/powerpoint/2010/main" val="2749707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22FD0-1A31-59AD-86C6-315FFB8C3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ARPANET 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6618C-B41E-99D8-5164-3D1D199B7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Building for Resilience</a:t>
            </a:r>
          </a:p>
          <a:p>
            <a:r>
              <a:rPr lang="en-US" dirty="0"/>
              <a:t>Interface Message Processors (IMPs) at each node</a:t>
            </a:r>
          </a:p>
          <a:p>
            <a:r>
              <a:rPr lang="en-US" dirty="0"/>
              <a:t>Network Control Protocol (NCP)</a:t>
            </a:r>
          </a:p>
          <a:p>
            <a:r>
              <a:rPr lang="en-US" dirty="0"/>
              <a:t>Distribute routing (no central control)</a:t>
            </a:r>
          </a:p>
          <a:p>
            <a:r>
              <a:rPr lang="en-US" dirty="0"/>
              <a:t>Automatic adaptation to failures</a:t>
            </a:r>
          </a:p>
          <a:p>
            <a:r>
              <a:rPr lang="en-US" dirty="0"/>
              <a:t>Open standards for growth</a:t>
            </a:r>
          </a:p>
        </p:txBody>
      </p:sp>
    </p:spTree>
    <p:extLst>
      <p:ext uri="{BB962C8B-B14F-4D97-AF65-F5344CB8AC3E}">
        <p14:creationId xmlns:p14="http://schemas.microsoft.com/office/powerpoint/2010/main" val="1921513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B78B5-9B4C-ADF8-E5AB-BD6A5C4D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1970s: Development of Early Networking Protocols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8CCC2-A9BB-BF3C-C558-52F28EF64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1973</a:t>
            </a:r>
            <a:r>
              <a:rPr lang="en-US" dirty="0"/>
              <a:t>: Development of the Ethernet protocol begins at Xerox PARC, led by Robert Metcalfe. </a:t>
            </a:r>
          </a:p>
          <a:p>
            <a:pPr lvl="1"/>
            <a:r>
              <a:rPr lang="en-US" dirty="0"/>
              <a:t>Inspired by </a:t>
            </a:r>
            <a:r>
              <a:rPr lang="en-US" dirty="0" err="1"/>
              <a:t>ALOHAnet’s</a:t>
            </a:r>
            <a:r>
              <a:rPr lang="en-US" dirty="0"/>
              <a:t> Random Access Protocol (allowed multiple devices to use single communication channel)</a:t>
            </a:r>
          </a:p>
          <a:p>
            <a:pPr lvl="1"/>
            <a:r>
              <a:rPr lang="en-US" dirty="0"/>
              <a:t>Designed to send data packets over coaxial cables</a:t>
            </a:r>
          </a:p>
          <a:p>
            <a:pPr lvl="1"/>
            <a:r>
              <a:rPr lang="en-US" dirty="0"/>
              <a:t>Multiple hosts could communicate on same ”medium”</a:t>
            </a:r>
          </a:p>
          <a:p>
            <a:pPr lvl="1"/>
            <a:r>
              <a:rPr lang="en-US" dirty="0"/>
              <a:t>CSMA/CD (Carrier Sense Multiple Access with Collision Detection) managed data collisions</a:t>
            </a:r>
          </a:p>
          <a:p>
            <a:pPr lvl="1"/>
            <a:r>
              <a:rPr lang="en-US" dirty="0"/>
              <a:t>Ethernet becomes a standard for local area networks (LANs).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42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B78B5-9B4C-ADF8-E5AB-BD6A5C4D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1970s: Development of Early Networking Protocols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8CCC2-A9BB-BF3C-C558-52F28EF64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1974</a:t>
            </a:r>
            <a:r>
              <a:rPr lang="en-US" dirty="0"/>
              <a:t>: </a:t>
            </a:r>
            <a:r>
              <a:rPr lang="en-US" dirty="0" err="1"/>
              <a:t>Vint</a:t>
            </a:r>
            <a:r>
              <a:rPr lang="en-US" dirty="0"/>
              <a:t> Cerf and Bob Kahn publish the first specification of the Transmission Control Protocol (TCP)</a:t>
            </a:r>
          </a:p>
          <a:p>
            <a:pPr lvl="1"/>
            <a:r>
              <a:rPr lang="en-US" b="1" dirty="0"/>
              <a:t>Network Agnosticism: </a:t>
            </a:r>
            <a:r>
              <a:rPr lang="en-US" dirty="0"/>
              <a:t>reliable inter-network communication (satellite, radio, wired)</a:t>
            </a:r>
          </a:p>
          <a:p>
            <a:pPr lvl="1"/>
            <a:r>
              <a:rPr lang="en-US" b="1" dirty="0"/>
              <a:t>Packet Switching: </a:t>
            </a:r>
            <a:r>
              <a:rPr lang="en-US" dirty="0"/>
              <a:t> small packets independently routed and reassembled</a:t>
            </a:r>
          </a:p>
          <a:p>
            <a:pPr lvl="1"/>
            <a:r>
              <a:rPr lang="en-US" b="1" dirty="0"/>
              <a:t>End-to-end Communication:  </a:t>
            </a:r>
            <a:r>
              <a:rPr lang="en-US" dirty="0"/>
              <a:t>receiving end acknowledged receipt of data on receiving end and mechanism for retransmission of lost packets</a:t>
            </a:r>
          </a:p>
          <a:p>
            <a:pPr lvl="1"/>
            <a:r>
              <a:rPr lang="en-US" b="1" dirty="0"/>
              <a:t>Layered Architecture:  </a:t>
            </a:r>
            <a:r>
              <a:rPr lang="en-US" dirty="0"/>
              <a:t>Separation of data transmission (TCP) from addressing and routing (IP)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621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B78B5-9B4C-ADF8-E5AB-BD6A5C4D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1970s: Development of Early Networking Protocols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8CCC2-A9BB-BF3C-C558-52F28EF64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1976</a:t>
            </a:r>
            <a:r>
              <a:rPr lang="en-US" dirty="0"/>
              <a:t>: IBM introduces Systems Network Architecture (SNA), </a:t>
            </a:r>
          </a:p>
          <a:p>
            <a:pPr lvl="1"/>
            <a:r>
              <a:rPr lang="en-US" dirty="0"/>
              <a:t> proprietary networking protocol for connecting IBM mainframe computers.</a:t>
            </a:r>
          </a:p>
          <a:p>
            <a:pPr lvl="1"/>
            <a:r>
              <a:rPr lang="en-US" dirty="0"/>
              <a:t>Used 7-layer architecture (similar to, but not the same as OSI model)</a:t>
            </a:r>
          </a:p>
          <a:p>
            <a:pPr lvl="1"/>
            <a:r>
              <a:rPr lang="en-US" dirty="0"/>
              <a:t>Logical Unit (LUs): endpoints representing devices/applications communicating with each other</a:t>
            </a:r>
          </a:p>
          <a:p>
            <a:pPr lvl="1"/>
            <a:r>
              <a:rPr lang="en-US" dirty="0"/>
              <a:t>Physical Units (PUs):  control points managing communication between network parts</a:t>
            </a:r>
          </a:p>
          <a:p>
            <a:pPr lvl="1"/>
            <a:r>
              <a:rPr lang="en-US" dirty="0"/>
              <a:t>Transmission Control Units (TCU): Data flow management (</a:t>
            </a:r>
            <a:r>
              <a:rPr lang="en-US" dirty="0" err="1"/>
              <a:t>incuding</a:t>
            </a:r>
            <a:r>
              <a:rPr lang="en-US" dirty="0"/>
              <a:t> error checking and data sequencing) </a:t>
            </a:r>
          </a:p>
          <a:p>
            <a:pPr lvl="1"/>
            <a:r>
              <a:rPr lang="en-US" dirty="0"/>
              <a:t>Influenced design of future protocols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706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B78B5-9B4C-ADF8-E5AB-BD6A5C4D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1970s: Development of Early Networking Protocols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8CCC2-A9BB-BF3C-C558-52F28EF64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1978</a:t>
            </a:r>
            <a:r>
              <a:rPr lang="en-US" dirty="0"/>
              <a:t>: TCP is split into TCP and IP (Internet Protocol)</a:t>
            </a:r>
          </a:p>
          <a:p>
            <a:pPr lvl="1"/>
            <a:r>
              <a:rPr lang="en-US" b="1" dirty="0"/>
              <a:t>Scalability:</a:t>
            </a:r>
            <a:r>
              <a:rPr lang="en-US" dirty="0"/>
              <a:t> Handling both transmission control and routing withing single protocol very complex (became issue with increasing number of connected networks and devices</a:t>
            </a:r>
          </a:p>
          <a:p>
            <a:pPr lvl="1"/>
            <a:r>
              <a:rPr lang="en-US" b="1" dirty="0"/>
              <a:t>Modularity and Flexibility: </a:t>
            </a:r>
            <a:r>
              <a:rPr lang="en-US" dirty="0"/>
              <a:t>different aspects of communication handled by different protocols </a:t>
            </a:r>
          </a:p>
          <a:p>
            <a:pPr lvl="1"/>
            <a:r>
              <a:rPr lang="en-US" b="1" dirty="0"/>
              <a:t>Network Agnosticism: </a:t>
            </a:r>
            <a:r>
              <a:rPr lang="en-US" dirty="0"/>
              <a:t>Separating responsibilities, transmission control(TCP) could focus on reliable delivery,  and IP could focus on routing.</a:t>
            </a:r>
          </a:p>
        </p:txBody>
      </p:sp>
    </p:spTree>
    <p:extLst>
      <p:ext uri="{BB962C8B-B14F-4D97-AF65-F5344CB8AC3E}">
        <p14:creationId xmlns:p14="http://schemas.microsoft.com/office/powerpoint/2010/main" val="2161591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6344-E9A4-52F6-2A46-F7AF80FB2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979" y="1857594"/>
            <a:ext cx="10515600" cy="1325563"/>
          </a:xfrm>
        </p:spPr>
        <p:txBody>
          <a:bodyPr/>
          <a:lstStyle/>
          <a:p>
            <a:r>
              <a:rPr lang="en-US" dirty="0"/>
              <a:t>Overview: Open Systems Interface (OSI)</a:t>
            </a:r>
          </a:p>
        </p:txBody>
      </p:sp>
    </p:spTree>
    <p:extLst>
      <p:ext uri="{BB962C8B-B14F-4D97-AF65-F5344CB8AC3E}">
        <p14:creationId xmlns:p14="http://schemas.microsoft.com/office/powerpoint/2010/main" val="1032763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AB0B-5E24-FF79-03F2-857E3EA40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Standardized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18E93-BD7C-7CAD-C466-A999FEEBA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 Hoc and Custom Networks:</a:t>
            </a:r>
          </a:p>
          <a:p>
            <a:pPr lvl="1"/>
            <a:r>
              <a:rPr lang="en-US" b="1" dirty="0"/>
              <a:t>Custom implementations:  </a:t>
            </a:r>
            <a:r>
              <a:rPr lang="en-US" dirty="0"/>
              <a:t>Each company developed their own solutions (built from ground up)</a:t>
            </a:r>
          </a:p>
          <a:p>
            <a:pPr lvl="1"/>
            <a:r>
              <a:rPr lang="en-US" b="1" dirty="0"/>
              <a:t>Limited interconnectivity: </a:t>
            </a:r>
            <a:r>
              <a:rPr lang="en-US" dirty="0"/>
              <a:t>Custom nature meant isolation and limited interconnectivity across organizations or regions. </a:t>
            </a:r>
          </a:p>
        </p:txBody>
      </p:sp>
    </p:spTree>
    <p:extLst>
      <p:ext uri="{BB962C8B-B14F-4D97-AF65-F5344CB8AC3E}">
        <p14:creationId xmlns:p14="http://schemas.microsoft.com/office/powerpoint/2010/main" val="1570603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AB0B-5E24-FF79-03F2-857E3EA40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Proprietary Protocols and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18E93-BD7C-7CAD-C466-A999FEEBA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Vendor-Specific Solutions:</a:t>
            </a:r>
          </a:p>
          <a:p>
            <a:pPr lvl="1"/>
            <a:r>
              <a:rPr lang="en-US" dirty="0"/>
              <a:t>IBM:   Systems Network Architecture used for connecting IBM mainframes</a:t>
            </a:r>
          </a:p>
          <a:p>
            <a:pPr lvl="1"/>
            <a:r>
              <a:rPr lang="en-US" dirty="0"/>
              <a:t>DEC: </a:t>
            </a:r>
            <a:r>
              <a:rPr lang="en-US" dirty="0" err="1"/>
              <a:t>Decnet</a:t>
            </a:r>
            <a:r>
              <a:rPr lang="en-US" dirty="0"/>
              <a:t> for connecting peer-to-peer network</a:t>
            </a:r>
          </a:p>
          <a:p>
            <a:pPr lvl="1"/>
            <a:r>
              <a:rPr lang="en-US" dirty="0"/>
              <a:t>Xerox:  Xerox Network System (XNS) for LANs and WANS</a:t>
            </a:r>
          </a:p>
          <a:p>
            <a:pPr marL="0" indent="0">
              <a:buNone/>
            </a:pPr>
            <a:r>
              <a:rPr lang="en-US" dirty="0"/>
              <a:t>Incompatible:</a:t>
            </a:r>
          </a:p>
          <a:p>
            <a:pPr lvl="1"/>
            <a:r>
              <a:rPr lang="en-US" dirty="0"/>
              <a:t>Difficult or impossible for different systems to communicate with each other</a:t>
            </a:r>
          </a:p>
          <a:p>
            <a:pPr lvl="1"/>
            <a:r>
              <a:rPr lang="en-US" dirty="0"/>
              <a:t>Lack of standardization led to fragmented network environment. </a:t>
            </a:r>
          </a:p>
        </p:txBody>
      </p:sp>
    </p:spTree>
    <p:extLst>
      <p:ext uri="{BB962C8B-B14F-4D97-AF65-F5344CB8AC3E}">
        <p14:creationId xmlns:p14="http://schemas.microsoft.com/office/powerpoint/2010/main" val="1968708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E934-DBB7-C920-3A2F-31137D73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1980s: Standardization and Emergence of Networking Models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9BCBA-62DB-3B4B-5742-E22EEDAA9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1980</a:t>
            </a:r>
            <a:r>
              <a:rPr lang="en-US" dirty="0"/>
              <a:t>: The International Organization for Standardization (ISO) begins developing the OSI model</a:t>
            </a:r>
          </a:p>
          <a:p>
            <a:pPr lvl="1"/>
            <a:r>
              <a:rPr lang="en-US" b="1" dirty="0"/>
              <a:t>Goal: </a:t>
            </a:r>
            <a:r>
              <a:rPr lang="en-US" dirty="0"/>
              <a:t>create a universal networking framework.</a:t>
            </a:r>
          </a:p>
          <a:p>
            <a:pPr lvl="1"/>
            <a:r>
              <a:rPr lang="en-US" b="1" dirty="0"/>
              <a:t>OSI Model: </a:t>
            </a:r>
            <a:r>
              <a:rPr lang="en-US" dirty="0"/>
              <a:t>A conceptual framework used to understand and implement network communication between systems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95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E934-DBB7-C920-3A2F-31137D73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1980s: Standardization and Emergence of Networking Models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9BCBA-62DB-3B4B-5742-E22EEDAA9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1983</a:t>
            </a:r>
            <a:r>
              <a:rPr lang="en-US" dirty="0"/>
              <a:t>: ARPANET formally adopts TCP/IP as its standard networking protocol, marking the beginning of the modern Internet.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904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E934-DBB7-C920-3A2F-31137D73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1980s: Standardization and Emergence of Networking Models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9BCBA-62DB-3B4B-5742-E22EEDAA9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1984</a:t>
            </a:r>
            <a:r>
              <a:rPr lang="en-US" dirty="0"/>
              <a:t>: The OSI model is published by ISO</a:t>
            </a:r>
          </a:p>
          <a:p>
            <a:pPr lvl="1"/>
            <a:r>
              <a:rPr lang="en-US" dirty="0"/>
              <a:t> A seven-layer framework for networking. (theoretical model)</a:t>
            </a:r>
          </a:p>
          <a:p>
            <a:pPr lvl="1"/>
            <a:r>
              <a:rPr lang="en-US" dirty="0"/>
              <a:t>useful for understanding how components and applications fit networking model</a:t>
            </a:r>
          </a:p>
          <a:p>
            <a:pPr lvl="1"/>
            <a:r>
              <a:rPr lang="en-US" dirty="0"/>
              <a:t>Becomes a key educational tool.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440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85B6-4EC0-0358-EA88-40C54413E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850931" cy="2672365"/>
          </a:xfrm>
        </p:spPr>
        <p:txBody>
          <a:bodyPr/>
          <a:lstStyle/>
          <a:p>
            <a:r>
              <a:rPr lang="en-US" dirty="0"/>
              <a:t>OSI Model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132FF2-496C-63FB-6D0B-717E6CF3AA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5828793"/>
              </p:ext>
            </p:extLst>
          </p:nvPr>
        </p:nvGraphicFramePr>
        <p:xfrm>
          <a:off x="3846786" y="182880"/>
          <a:ext cx="4762505" cy="567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4100">
                  <a:extLst>
                    <a:ext uri="{9D8B030D-6E8A-4147-A177-3AD203B41FA5}">
                      <a16:colId xmlns:a16="http://schemas.microsoft.com/office/drawing/2014/main" val="1425508913"/>
                    </a:ext>
                  </a:extLst>
                </a:gridCol>
                <a:gridCol w="2258405">
                  <a:extLst>
                    <a:ext uri="{9D8B030D-6E8A-4147-A177-3AD203B41FA5}">
                      <a16:colId xmlns:a16="http://schemas.microsoft.com/office/drawing/2014/main" val="5282468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612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 users to access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995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Translates, encrypts, compresses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660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Create, terminate, and manages sessions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95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 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Manages delivery and error checking of packets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623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Identify shortest 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6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Data Link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packed into frames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70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Physical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Forms a physical medium for transport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809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023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5555-E172-1020-798F-691A76CB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 (Layer 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A7843-44B5-C7E3-A74C-BFFE191EA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r>
              <a:rPr lang="en-US" dirty="0"/>
              <a:t>Closest to the end-user and interacts with software applications to implement networking functions like email, file transfer, and web browsing.</a:t>
            </a:r>
          </a:p>
          <a:p>
            <a:pPr lvl="1"/>
            <a:r>
              <a:rPr lang="en-US" b="1" dirty="0"/>
              <a:t>Network Hardware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Proxies</a:t>
            </a:r>
            <a:r>
              <a:rPr lang="en-US" dirty="0"/>
              <a:t>: Can operate at Layer 7 by making content decisions.</a:t>
            </a:r>
          </a:p>
          <a:p>
            <a:pPr lvl="2"/>
            <a:r>
              <a:rPr lang="en-US" b="1" dirty="0"/>
              <a:t>Layer 7 Switches</a:t>
            </a:r>
            <a:r>
              <a:rPr lang="en-US" dirty="0"/>
              <a:t>: Also known as application-aware switches, they can make decisions based on application data.</a:t>
            </a:r>
          </a:p>
          <a:p>
            <a:pPr lvl="2"/>
            <a:r>
              <a:rPr lang="en-US" b="1" dirty="0"/>
              <a:t>Firewalls</a:t>
            </a:r>
            <a:r>
              <a:rPr lang="en-US" dirty="0"/>
              <a:t>: Advanced firewalls can operate at this layer, filtering traffic based on application content.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949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170C0-0ABD-4988-009F-BCD931A5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Layer (Layer 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A8B69-E672-92A5-0EFA-18F69B5E8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r>
              <a:rPr lang="en-US" dirty="0"/>
              <a:t>The Presentation layer translates data between the application layer and the network format, handling data encryption, compression, and translation.</a:t>
            </a:r>
          </a:p>
          <a:p>
            <a:pPr marL="0" indent="0">
              <a:buNone/>
            </a:pPr>
            <a:r>
              <a:rPr lang="en-US" b="1" dirty="0"/>
              <a:t>Network Hardware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Encryption Devices</a:t>
            </a:r>
            <a:r>
              <a:rPr lang="en-US" dirty="0"/>
              <a:t>: Hardware that provides data encryption/decryption.</a:t>
            </a:r>
          </a:p>
          <a:p>
            <a:pPr lvl="1"/>
            <a:r>
              <a:rPr lang="en-US" b="1" dirty="0"/>
              <a:t>Some Gateways</a:t>
            </a:r>
            <a:r>
              <a:rPr lang="en-US" dirty="0"/>
              <a:t>: If involved in protocol conversion or data translation.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966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75ADB-053B-0FBF-A715-10CE222D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Layer (Layer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B5361-BFB6-9006-18B2-0E8504434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r>
              <a:rPr lang="en-US" dirty="0"/>
              <a:t>The Session layer manages sessions between applications, including establishing, maintaining, and terminating connections.</a:t>
            </a:r>
          </a:p>
          <a:p>
            <a:pPr marL="0" indent="0">
              <a:buNone/>
            </a:pPr>
            <a:r>
              <a:rPr lang="en-US" b="1" dirty="0"/>
              <a:t>Network Hardware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Application Gateways</a:t>
            </a:r>
            <a:r>
              <a:rPr lang="en-US" dirty="0"/>
              <a:t>: Some devices that handle complex interactions between different systems may operate at this layer.  Note: most session management is handled by software.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271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92648-BA46-42D0-7D4D-27C7CE0AE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 (Layer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C5EA0-3DF2-4F09-1C72-8A039ED96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r>
              <a:rPr lang="en-US" dirty="0"/>
              <a:t>The Transport layer is responsible for end-to-end communication, data flow control, error recovery, and segmentation. It ensures that data is transferred reliably and in the correct order.</a:t>
            </a:r>
          </a:p>
          <a:p>
            <a:pPr marL="0" indent="0">
              <a:buNone/>
            </a:pPr>
            <a:r>
              <a:rPr lang="en-US" b="1" dirty="0"/>
              <a:t>Network Hardware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Gateways</a:t>
            </a:r>
            <a:r>
              <a:rPr lang="en-US" dirty="0"/>
              <a:t>: Devices that connect networks using different protocols (though they can operate across multiple layers).</a:t>
            </a:r>
          </a:p>
          <a:p>
            <a:pPr lvl="1"/>
            <a:r>
              <a:rPr lang="en-US" b="1" dirty="0"/>
              <a:t>Load Balancers</a:t>
            </a:r>
            <a:r>
              <a:rPr lang="en-US" dirty="0"/>
              <a:t>: Often work at Layer 4 by distributing incoming traffic based on transport layer information like TCP/UDP ports.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881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9C052-3CBF-5E16-CE01-CC58A49D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 (Layer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CCE65-25A5-3E5B-2547-DEB76769A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r>
              <a:rPr lang="en-US" dirty="0"/>
              <a:t>The Network layer is responsible for routing packets across network boundaries, logical addressing, and path determination.</a:t>
            </a:r>
          </a:p>
          <a:p>
            <a:pPr marL="0" indent="0">
              <a:buNone/>
            </a:pPr>
            <a:r>
              <a:rPr lang="en-US" b="1" dirty="0"/>
              <a:t>Network Hardware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Routers</a:t>
            </a:r>
            <a:r>
              <a:rPr lang="en-US" dirty="0"/>
              <a:t>: Direct data packets between different networks based on IP addresses.</a:t>
            </a:r>
          </a:p>
          <a:p>
            <a:pPr lvl="1"/>
            <a:r>
              <a:rPr lang="en-US" b="1" dirty="0"/>
              <a:t>Layer 3 Switches</a:t>
            </a:r>
            <a:r>
              <a:rPr lang="en-US" dirty="0"/>
              <a:t>: Switches that perform routing functions.</a:t>
            </a:r>
          </a:p>
          <a:p>
            <a:pPr lvl="1"/>
            <a:r>
              <a:rPr lang="en-US" b="1" dirty="0"/>
              <a:t>Firewalls</a:t>
            </a:r>
            <a:r>
              <a:rPr lang="en-US" dirty="0"/>
              <a:t>: Some firewalls also operate at this layer to filter traffic based on IP addresses.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656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DDEFB-D28F-3A19-A049-B982D5F5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Link Layer (Layer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62668-A65C-C91E-54E5-7134FF01A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r>
              <a:rPr lang="en-US" dirty="0"/>
              <a:t>The Data Link layer is responsible for node-to-node data transfer and error detection and correction in frames. It also controls how data is placed on the medium.</a:t>
            </a:r>
          </a:p>
          <a:p>
            <a:pPr marL="0" indent="0">
              <a:buNone/>
            </a:pPr>
            <a:r>
              <a:rPr lang="en-US" b="1" dirty="0"/>
              <a:t>Network Hardware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Switches</a:t>
            </a:r>
            <a:r>
              <a:rPr lang="en-US" dirty="0"/>
              <a:t>: Operate at Layer 2 by forwarding frames based on MAC addresses.</a:t>
            </a:r>
          </a:p>
          <a:p>
            <a:pPr lvl="1"/>
            <a:r>
              <a:rPr lang="en-US" b="1" dirty="0"/>
              <a:t>Bridges</a:t>
            </a:r>
            <a:endParaRPr lang="en-US" dirty="0"/>
          </a:p>
          <a:p>
            <a:pPr lvl="1"/>
            <a:r>
              <a:rPr lang="en-US" b="1" dirty="0"/>
              <a:t>Network Interface Cards (NICs)</a:t>
            </a:r>
            <a:r>
              <a:rPr lang="en-US" dirty="0"/>
              <a:t>: Fully operates at this layer for handling MAC addresses and framing.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11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71528-0FF2-565A-07A4-9CD335497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Layer (Layer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FD44F-F406-BCEA-45ED-6ADEE4FA1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The Physical layer is responsible for the physical connection between devices. It handles the transmission and reception of raw bitstreams over a physical medium (e.g., cables, radio frequencies).</a:t>
            </a:r>
          </a:p>
          <a:p>
            <a:pPr marL="0" indent="0">
              <a:buNone/>
            </a:pPr>
            <a:r>
              <a:rPr lang="en-US" b="1" dirty="0"/>
              <a:t>Network Hardware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Cables</a:t>
            </a:r>
            <a:r>
              <a:rPr lang="en-US" dirty="0"/>
              <a:t> (Ethernet cables, fiber optics)</a:t>
            </a:r>
          </a:p>
          <a:p>
            <a:pPr lvl="1"/>
            <a:r>
              <a:rPr lang="en-US" b="1" dirty="0"/>
              <a:t>Connectors</a:t>
            </a:r>
            <a:endParaRPr lang="en-US" dirty="0"/>
          </a:p>
          <a:p>
            <a:pPr lvl="1"/>
            <a:r>
              <a:rPr lang="en-US" b="1" dirty="0"/>
              <a:t>Hubs</a:t>
            </a:r>
            <a:endParaRPr lang="en-US" dirty="0"/>
          </a:p>
          <a:p>
            <a:pPr lvl="1"/>
            <a:r>
              <a:rPr lang="en-US" b="1" dirty="0"/>
              <a:t>Network Interface Cards (NICs)</a:t>
            </a:r>
            <a:r>
              <a:rPr lang="en-US" dirty="0"/>
              <a:t> (partially)</a:t>
            </a:r>
          </a:p>
          <a:p>
            <a:pPr lvl="1"/>
            <a:r>
              <a:rPr lang="en-US" b="1" dirty="0"/>
              <a:t>Repeaters</a:t>
            </a:r>
            <a:endParaRPr lang="en-US" dirty="0"/>
          </a:p>
          <a:p>
            <a:pPr lvl="1"/>
            <a:r>
              <a:rPr lang="en-US" b="1" dirty="0"/>
              <a:t>Modems</a:t>
            </a:r>
            <a:r>
              <a:rPr lang="en-US" dirty="0"/>
              <a:t> (for some types of communication)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426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85B6-4EC0-0358-EA88-40C54413E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850931" cy="2672365"/>
          </a:xfrm>
        </p:spPr>
        <p:txBody>
          <a:bodyPr/>
          <a:lstStyle/>
          <a:p>
            <a:r>
              <a:rPr lang="en-US" dirty="0"/>
              <a:t>OSI vs TCP/IP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132FF2-496C-63FB-6D0B-717E6CF3AA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0176966"/>
              </p:ext>
            </p:extLst>
          </p:nvPr>
        </p:nvGraphicFramePr>
        <p:xfrm>
          <a:off x="4043853" y="182880"/>
          <a:ext cx="7948451" cy="649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1240">
                  <a:extLst>
                    <a:ext uri="{9D8B030D-6E8A-4147-A177-3AD203B41FA5}">
                      <a16:colId xmlns:a16="http://schemas.microsoft.com/office/drawing/2014/main" val="1425508913"/>
                    </a:ext>
                  </a:extLst>
                </a:gridCol>
                <a:gridCol w="1976241">
                  <a:extLst>
                    <a:ext uri="{9D8B030D-6E8A-4147-A177-3AD203B41FA5}">
                      <a16:colId xmlns:a16="http://schemas.microsoft.com/office/drawing/2014/main" val="528246816"/>
                    </a:ext>
                  </a:extLst>
                </a:gridCol>
                <a:gridCol w="1890485">
                  <a:extLst>
                    <a:ext uri="{9D8B030D-6E8A-4147-A177-3AD203B41FA5}">
                      <a16:colId xmlns:a16="http://schemas.microsoft.com/office/drawing/2014/main" val="3256559339"/>
                    </a:ext>
                  </a:extLst>
                </a:gridCol>
                <a:gridCol w="1890485">
                  <a:extLst>
                    <a:ext uri="{9D8B030D-6E8A-4147-A177-3AD203B41FA5}">
                      <a16:colId xmlns:a16="http://schemas.microsoft.com/office/drawing/2014/main" val="3104652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TCP/IP (Suite of protocols)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612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 users to access network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4 Application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dirty="0"/>
                        <a:t>Enable user (human or software) to access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995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Translates, encrypts, compresses data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660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Create, terminate, and manages sessions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95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 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Manages delivery and error checking of packets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Manages delivery and error checking of packets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623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Identify shortest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Identify shortest 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6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Data Link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packed into frames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 Network   Interface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Data packed into frames. Forms a physical medium for delivery of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70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Physical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Forms a physical medium for transport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809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247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CE516-468A-6E3A-321D-1F7763AA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0910DE-681C-A2C6-83E0-9EDDA8BD1E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100819"/>
              </p:ext>
            </p:extLst>
          </p:nvPr>
        </p:nvGraphicFramePr>
        <p:xfrm>
          <a:off x="838200" y="1825625"/>
          <a:ext cx="10515597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94883011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7343891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18868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149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Expands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Transmission Control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System Interconnect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629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Client Server model used for transmission of data over 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Theoretical model used for computing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83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Number of 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 layers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42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Developed by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DoD (Department of Defense)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ISO (International Standards Organization)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927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Tangible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971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Mostly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Never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891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Obeys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Horizontal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Vertical approach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677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16368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55EDA-6E03-32D0-C0C9-F95F18826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0BF20-A2F1-2D4B-B840-219837074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Application Layer:  </a:t>
            </a:r>
          </a:p>
          <a:p>
            <a:pPr marL="457200" lvl="1" indent="0">
              <a:buNone/>
            </a:pPr>
            <a:r>
              <a:rPr lang="en-US" sz="1200" dirty="0"/>
              <a:t>HTTP / HTTPS	FTP	SMTP	POP3/IMAP		DNS		</a:t>
            </a:r>
          </a:p>
          <a:p>
            <a:pPr marL="457200" lvl="1" indent="0">
              <a:buNone/>
            </a:pPr>
            <a:r>
              <a:rPr lang="en-US" sz="1200" dirty="0"/>
              <a:t>Telnet/SSH	SNMP	DHCP	NTP</a:t>
            </a:r>
          </a:p>
          <a:p>
            <a:pPr marL="0" indent="0">
              <a:buNone/>
            </a:pPr>
            <a:r>
              <a:rPr lang="en-US" b="1" dirty="0"/>
              <a:t>Transport Layer: </a:t>
            </a:r>
          </a:p>
          <a:p>
            <a:pPr marL="457200" lvl="1" indent="0">
              <a:buNone/>
            </a:pPr>
            <a:r>
              <a:rPr lang="en-US" sz="1200" dirty="0"/>
              <a:t>TCP			UDP</a:t>
            </a:r>
          </a:p>
          <a:p>
            <a:pPr marL="0" indent="0">
              <a:buNone/>
            </a:pPr>
            <a:r>
              <a:rPr lang="en-US" b="1" dirty="0"/>
              <a:t>Internet Layer:  </a:t>
            </a:r>
          </a:p>
          <a:p>
            <a:pPr marL="457200" lvl="1" indent="0">
              <a:buNone/>
            </a:pPr>
            <a:r>
              <a:rPr lang="en-US" sz="1200" dirty="0"/>
              <a:t>IP (IPv4, IPv6)	 ICMP 	ARP	,RARP</a:t>
            </a:r>
          </a:p>
          <a:p>
            <a:pPr marL="0" indent="0">
              <a:buNone/>
            </a:pPr>
            <a:r>
              <a:rPr lang="en-US" b="1" dirty="0"/>
              <a:t>Link Layer (Network Interface Layer): </a:t>
            </a:r>
          </a:p>
          <a:p>
            <a:pPr marL="457200" lvl="1" indent="0">
              <a:buNone/>
            </a:pPr>
            <a:r>
              <a:rPr lang="en-US" sz="1200" dirty="0"/>
              <a:t>Ethernet	 Wi-Fi	PPP	Frame Relay		MAC</a:t>
            </a:r>
          </a:p>
        </p:txBody>
      </p:sp>
    </p:spTree>
    <p:extLst>
      <p:ext uri="{BB962C8B-B14F-4D97-AF65-F5344CB8AC3E}">
        <p14:creationId xmlns:p14="http://schemas.microsoft.com/office/powerpoint/2010/main" val="32013539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55EDA-6E03-32D0-C0C9-F95F18826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0BF20-A2F1-2D4B-B840-219837074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Application Layer:  </a:t>
            </a:r>
          </a:p>
          <a:p>
            <a:pPr marL="0" indent="0">
              <a:buNone/>
            </a:pPr>
            <a:r>
              <a:rPr lang="en-US" sz="1600" dirty="0"/>
              <a:t>Servers (web servers, email servers, application servers that host / manage services like HTTP, FTP, SMTP, and DNS)</a:t>
            </a:r>
          </a:p>
          <a:p>
            <a:pPr marL="0" indent="0">
              <a:buNone/>
            </a:pPr>
            <a:r>
              <a:rPr lang="en-US" b="1" dirty="0"/>
              <a:t>Transport Layer: </a:t>
            </a:r>
          </a:p>
          <a:p>
            <a:pPr marL="0" indent="0">
              <a:buNone/>
            </a:pPr>
            <a:r>
              <a:rPr lang="en-US" sz="1600" dirty="0"/>
              <a:t>Gateways </a:t>
            </a:r>
          </a:p>
          <a:p>
            <a:pPr marL="0" indent="0">
              <a:buNone/>
            </a:pPr>
            <a:r>
              <a:rPr lang="en-US" sz="1600" dirty="0"/>
              <a:t>Load balancers</a:t>
            </a:r>
          </a:p>
          <a:p>
            <a:pPr marL="0" indent="0">
              <a:buNone/>
            </a:pPr>
            <a:r>
              <a:rPr lang="en-US" b="1" dirty="0"/>
              <a:t>Internet Layer:  </a:t>
            </a:r>
          </a:p>
          <a:p>
            <a:pPr marL="0" indent="0">
              <a:buNone/>
            </a:pPr>
            <a:r>
              <a:rPr lang="en-US" sz="1600" dirty="0"/>
              <a:t>Routers</a:t>
            </a:r>
          </a:p>
          <a:p>
            <a:pPr marL="0" indent="0">
              <a:buNone/>
            </a:pPr>
            <a:r>
              <a:rPr lang="en-US" sz="1600" dirty="0"/>
              <a:t>Layer 3 Switches</a:t>
            </a:r>
          </a:p>
          <a:p>
            <a:pPr marL="0" indent="0">
              <a:buNone/>
            </a:pPr>
            <a:r>
              <a:rPr lang="en-US" b="1" dirty="0"/>
              <a:t>Link Layer </a:t>
            </a:r>
            <a:r>
              <a:rPr lang="en-US" dirty="0"/>
              <a:t>(Network Interface Layer): </a:t>
            </a:r>
          </a:p>
          <a:p>
            <a:pPr marL="0" indent="0">
              <a:buNone/>
            </a:pPr>
            <a:r>
              <a:rPr lang="en-US" sz="1600" dirty="0"/>
              <a:t>NICs		Switches		Hubs		Bridges		Access Points	Modems		</a:t>
            </a:r>
          </a:p>
          <a:p>
            <a:pPr marL="0" indent="0">
              <a:buNone/>
            </a:pPr>
            <a:r>
              <a:rPr lang="en-US" sz="1600" dirty="0"/>
              <a:t>fiber optic cables	Physical media (Cat5e, Cat6), </a:t>
            </a:r>
          </a:p>
        </p:txBody>
      </p:sp>
    </p:spTree>
    <p:extLst>
      <p:ext uri="{BB962C8B-B14F-4D97-AF65-F5344CB8AC3E}">
        <p14:creationId xmlns:p14="http://schemas.microsoft.com/office/powerpoint/2010/main" val="42668520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912F-72FA-ECA1-C1B4-3E0F26218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1990s: Internet Growth and Adoption of TCP/IP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CFCA9-EB4E-5ED3-484A-2A7EC108D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1990</a:t>
            </a:r>
            <a:r>
              <a:rPr lang="en-US" dirty="0"/>
              <a:t>: ARPANET is officially decommissioned, but the Internet continues to grow, with TCP/IP as its core protocol.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OSI model used for academic purposes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0647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912F-72FA-ECA1-C1B4-3E0F26218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1990s: Internet Growth and Adoption of TCP/IP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CFCA9-EB4E-5ED3-484A-2A7EC108D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1991</a:t>
            </a:r>
            <a:r>
              <a:rPr lang="en-US" dirty="0"/>
              <a:t>: The World Wide Web is introduced by Tim Berners-Lee, rapidly accelerating the adoption of TCP/IP globally.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330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9F543-2633-D985-268C-1C6F4DA97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2000s and Beyond: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96D7B-DAED-F83B-4CCE-7C791DEF5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2000s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The OSI model remains a fundamental part of networking education, </a:t>
            </a:r>
          </a:p>
          <a:p>
            <a:pPr lvl="1"/>
            <a:r>
              <a:rPr lang="en-US" dirty="0"/>
              <a:t>TCP/IP continues to be the dominant protocol suite for Internet communication.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9840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9F543-2633-D985-268C-1C6F4DA97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2000s and Beyond: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96D7B-DAED-F83B-4CCE-7C791DEF5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2010s-2020s</a:t>
            </a:r>
            <a:r>
              <a:rPr lang="en-US" dirty="0"/>
              <a:t>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Continued growth of the Internet of Things (IoT), cloud computing, and mobile networks,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TCP/IP remains central to global connectivity</a:t>
            </a:r>
            <a:r>
              <a:rPr lang="en-US"/>
              <a:t>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OSI </a:t>
            </a:r>
            <a:r>
              <a:rPr lang="en-US" dirty="0"/>
              <a:t>model continues to influence protocol development and network design.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569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2038</TotalTime>
  <Words>2008</Words>
  <Application>Microsoft Macintosh PowerPoint</Application>
  <PresentationFormat>Widescreen</PresentationFormat>
  <Paragraphs>267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Office Theme</vt:lpstr>
      <vt:lpstr>Computer Networking:  a brief history</vt:lpstr>
      <vt:lpstr>Central Challenge:</vt:lpstr>
      <vt:lpstr>Packet Switching</vt:lpstr>
      <vt:lpstr>Leonard’s Big Idea:</vt:lpstr>
      <vt:lpstr>Circuit vs Packet Switching:  Book Analogy</vt:lpstr>
      <vt:lpstr>First Connection (1965): MIT to California</vt:lpstr>
      <vt:lpstr>Birth of ARPANET (1969) </vt:lpstr>
      <vt:lpstr>ARPANET</vt:lpstr>
      <vt:lpstr>ARPANET Design Principles</vt:lpstr>
      <vt:lpstr>1970s: Development of Early Networking Protocols </vt:lpstr>
      <vt:lpstr>1970s: Development of Early Networking Protocols </vt:lpstr>
      <vt:lpstr>1970s: Development of Early Networking Protocols </vt:lpstr>
      <vt:lpstr>1970s: Development of Early Networking Protocols </vt:lpstr>
      <vt:lpstr>Overview: Open Systems Interface (OSI)</vt:lpstr>
      <vt:lpstr>Before Standardized Protocols</vt:lpstr>
      <vt:lpstr>Review: Proprietary Protocols and Structures</vt:lpstr>
      <vt:lpstr>1980s: Standardization and Emergence of Networking Models </vt:lpstr>
      <vt:lpstr>1980s: Standardization and Emergence of Networking Models </vt:lpstr>
      <vt:lpstr>1980s: Standardization and Emergence of Networking Models </vt:lpstr>
      <vt:lpstr>OSI Model</vt:lpstr>
      <vt:lpstr>Application Layer (Layer 7)</vt:lpstr>
      <vt:lpstr>Presentation Layer (Layer 6)</vt:lpstr>
      <vt:lpstr>Session Layer (Layer 5)</vt:lpstr>
      <vt:lpstr>Transport Layer (Layer 4)</vt:lpstr>
      <vt:lpstr>Network Layer (Layer 3)</vt:lpstr>
      <vt:lpstr>Data Link Layer (Layer 2)</vt:lpstr>
      <vt:lpstr>Physical Layer (Layer 1)</vt:lpstr>
      <vt:lpstr>OSI vs TCP/IP</vt:lpstr>
      <vt:lpstr>Direct Comparison</vt:lpstr>
      <vt:lpstr>TCP/IP Protocols</vt:lpstr>
      <vt:lpstr>TCP/IP Hardware</vt:lpstr>
      <vt:lpstr>1990s: Internet Growth and Adoption of TCP/IP</vt:lpstr>
      <vt:lpstr>1990s: Internet Growth and Adoption of TCP/IP</vt:lpstr>
      <vt:lpstr>2000s and Beyond:</vt:lpstr>
      <vt:lpstr>2000s and Beyond: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Eve</dc:creator>
  <cp:lastModifiedBy>David Eve</cp:lastModifiedBy>
  <cp:revision>7</cp:revision>
  <dcterms:created xsi:type="dcterms:W3CDTF">2024-08-01T22:26:48Z</dcterms:created>
  <dcterms:modified xsi:type="dcterms:W3CDTF">2025-11-05T11:36:50Z</dcterms:modified>
</cp:coreProperties>
</file>