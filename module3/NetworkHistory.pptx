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87" r:id="rId3"/>
    <p:sldId id="257" r:id="rId4"/>
    <p:sldId id="288" r:id="rId5"/>
    <p:sldId id="289" r:id="rId6"/>
    <p:sldId id="263" r:id="rId7"/>
    <p:sldId id="262" r:id="rId8"/>
    <p:sldId id="291" r:id="rId9"/>
    <p:sldId id="290" r:id="rId10"/>
    <p:sldId id="292" r:id="rId11"/>
    <p:sldId id="293" r:id="rId12"/>
    <p:sldId id="295" r:id="rId13"/>
    <p:sldId id="294" r:id="rId14"/>
    <p:sldId id="302" r:id="rId15"/>
    <p:sldId id="303" r:id="rId16"/>
    <p:sldId id="304" r:id="rId17"/>
    <p:sldId id="296" r:id="rId18"/>
    <p:sldId id="297" r:id="rId19"/>
    <p:sldId id="298" r:id="rId20"/>
    <p:sldId id="299" r:id="rId21"/>
    <p:sldId id="261" r:id="rId22"/>
    <p:sldId id="300" r:id="rId23"/>
    <p:sldId id="301" r:id="rId24"/>
    <p:sldId id="265" r:id="rId25"/>
    <p:sldId id="266" r:id="rId26"/>
    <p:sldId id="267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278" r:id="rId43"/>
    <p:sldId id="272" r:id="rId44"/>
    <p:sldId id="273" r:id="rId45"/>
    <p:sldId id="268" r:id="rId46"/>
    <p:sldId id="260" r:id="rId47"/>
    <p:sldId id="269" r:id="rId48"/>
    <p:sldId id="274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79" r:id="rId57"/>
    <p:sldId id="275" r:id="rId58"/>
    <p:sldId id="276" r:id="rId59"/>
    <p:sldId id="277" r:id="rId60"/>
    <p:sldId id="259" r:id="rId61"/>
    <p:sldId id="270" r:id="rId62"/>
    <p:sldId id="258" r:id="rId63"/>
    <p:sldId id="271" r:id="rId64"/>
    <p:sldId id="320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/>
    <p:restoredTop sz="83287"/>
  </p:normalViewPr>
  <p:slideViewPr>
    <p:cSldViewPr snapToGrid="0">
      <p:cViewPr varScale="1">
        <p:scale>
          <a:sx n="85" d="100"/>
          <a:sy n="85" d="100"/>
        </p:scale>
        <p:origin x="192" y="584"/>
      </p:cViewPr>
      <p:guideLst/>
    </p:cSldViewPr>
  </p:slideViewPr>
  <p:outlineViewPr>
    <p:cViewPr>
      <p:scale>
        <a:sx n="33" d="100"/>
        <a:sy n="33" d="100"/>
      </p:scale>
      <p:origin x="0" y="-102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AA3B8-C3F3-BA46-8C6E-E14CA962756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8AF77-E50E-2B45-BEA3-FAD2ED38D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7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Steve Crocker:   contributed to development of email systems standards, Host-Host protocol, initiating the RFC (Request for Comments) for the development of network protocols</a:t>
            </a:r>
            <a:br>
              <a:rPr lang="en-US" dirty="0"/>
            </a:br>
            <a:r>
              <a:rPr lang="en-US" dirty="0"/>
              <a:t>Vincent Cerf: contributed to development of TCP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8AF77-E50E-2B45-BEA3-FAD2ED38D6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04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8AF77-E50E-2B45-BEA3-FAD2ED38D64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13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AC52E-C955-D485-7C56-36909A1A9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D5E1C-4059-574D-EB80-00CA0A903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CB75F-26A4-9890-D057-AD225F5B2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89C0D-DA28-A72B-8E13-D5E17E1B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89A77-CAEF-2477-EC26-B77576E0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0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F1BB-9B8B-EBEC-D7AF-A86BF32E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85CD6-FB05-3883-56A7-1D690F779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17F2D-96A5-DE5E-13CA-E6574FD3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70A94-2BA8-3744-70E8-ED9EB0FD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8F9DA-1D10-C640-21E7-BBF7205E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0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49B1-0EBB-5399-A84C-54D844360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F39E1-CF53-31FE-A5D2-5D8A77ED3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05ECE-28BA-B7E5-1DD1-434366FC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9EF17-13F6-771B-D197-41C4505E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29A12-DF5E-6DE4-C889-1B396D74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94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0E8F-97AB-5B74-1036-D46EAED3B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4C134-9916-1AB2-214C-A709006DD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A15EC-FA5F-249E-4619-75DF7423E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3CAEE-12E8-9958-5B53-580A0851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AB889-810B-A573-FC79-EBA9E77F2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04031-FBF9-4DDE-538F-CBC997C1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5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B0DD1-F3E9-A537-F02A-75F0AE100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6E33C-75B8-2632-C046-D960951D5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9B3CD-8342-9932-0BA6-8CF0E4600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7782F-A55A-736C-2B15-769A5E1D7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23919-C415-9A86-2486-1D85A8D30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B4115-292A-178B-987E-D2AED898A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0780A-5EEF-79E0-F576-8B18A5CDD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C4114F-E49C-7A42-6352-9AAA4400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27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838FC-FCA0-7999-9E99-906E60509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C8AC6-A8AC-E81B-EE30-B02A5F64A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B404C8-61D0-E02D-72C4-F00646F6B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E5A4F-97A4-942E-EE46-6A2398185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3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CD710-3168-EE20-F9B2-41C532894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CEF044-E576-7222-85CC-4F55FDDF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E823E-3A87-AB72-F4CD-34B804C7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43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10C0-BBA7-BAB9-F40C-25F9D04BE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09651-5F91-4EC4-8603-5A4EE1CE3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91AE7-32BD-434B-6F34-61142C2B9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B14DC-4F4E-C1FA-7DD5-A1D86CC1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42614-8EE5-FBAD-3E6A-C2AB6ED43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5B591-C80F-312C-19E8-04112CDF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67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F99C-23D7-0019-359E-C13A3A67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A9400E-E2D4-67AB-6EDB-8F77AA76F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487B0-AE96-8C05-ED1D-D7DE3D766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B9189-72C5-7049-E358-C75B0CE9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FA544-C2A0-7570-5688-B50C3C4E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9DDB6-46FF-1904-840F-E24B0AC5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19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7119-842F-5C8D-7AD9-5B14990D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43754-987E-FB61-41A4-450BB13B6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14C9E-CD9F-9E98-57DF-A444B2B5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DE1D3-842E-EB8A-000F-AEBAA163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D7EEA-DE66-284C-98ED-1394E3B5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82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8CE366-FD60-7505-9B25-58714B99B6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DC3AD-7F90-1FC7-1FB1-C7B347A5B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52357-C767-0D91-10A4-A4D7B84C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674E9-07D5-30B2-6DA7-9C843C43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83B99-4F7C-858D-A41D-01CDDBDE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3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3468A-1BDA-A575-AC5A-3BFD92DB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1C09A-1705-D3B7-AE50-5DB958355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9E9CA-E1B0-DC22-5725-E96FA233F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208BE-EA4C-7940-963A-21FD83AB0A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5777D-2F08-6C0F-7DD7-BF2482C5B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E659F-38D5-E6EC-51B1-D1792AE66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9E46B-F9F1-C742-BF67-BF4DB1420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69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6DEBE-C73A-B26F-6F00-F25839A06F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Networking: </a:t>
            </a:r>
            <a:br>
              <a:rPr lang="en-US" dirty="0"/>
            </a:br>
            <a:r>
              <a:rPr lang="en-US" dirty="0"/>
              <a:t>a brief history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96647-74BF-A047-4D7C-21473DC230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CSCI 101</a:t>
            </a:r>
          </a:p>
        </p:txBody>
      </p:sp>
    </p:spTree>
    <p:extLst>
      <p:ext uri="{BB962C8B-B14F-4D97-AF65-F5344CB8AC3E}">
        <p14:creationId xmlns:p14="http://schemas.microsoft.com/office/powerpoint/2010/main" val="3830361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C3C0D-3AE9-B9FE-33F1-4AD50952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Challenge: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5CCC5-5F7A-7546-3996-CE7DD2A37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computers do stuff, how do you get computers to talk to each other?</a:t>
            </a:r>
          </a:p>
          <a:p>
            <a:r>
              <a:rPr lang="en-US" dirty="0"/>
              <a:t>Different manufacturers – different hardware</a:t>
            </a:r>
          </a:p>
          <a:p>
            <a:r>
              <a:rPr lang="en-US" dirty="0"/>
              <a:t>Different operating systems – different data formats</a:t>
            </a:r>
          </a:p>
          <a:p>
            <a:r>
              <a:rPr lang="en-US" dirty="0"/>
              <a:t>Geographical distances – unreliable transmission media</a:t>
            </a:r>
          </a:p>
          <a:p>
            <a:endParaRPr lang="en-US" dirty="0"/>
          </a:p>
          <a:p>
            <a:r>
              <a:rPr lang="en-US" dirty="0"/>
              <a:t>Clear need for standardization and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78855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document&#10;&#10;Description automatically generated">
            <a:extLst>
              <a:ext uri="{FF2B5EF4-FFF2-40B4-BE49-F238E27FC236}">
                <a16:creationId xmlns:a16="http://schemas.microsoft.com/office/drawing/2014/main" id="{D4EAF43F-2554-CFF4-0B72-BF273B6A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16" y="365125"/>
            <a:ext cx="7167981" cy="59213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1997D2-7CEE-F5DB-B140-0E0DCEC7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603" y="365125"/>
            <a:ext cx="6757234" cy="1635125"/>
          </a:xfrm>
        </p:spPr>
        <p:txBody>
          <a:bodyPr>
            <a:normAutofit/>
          </a:bodyPr>
          <a:lstStyle/>
          <a:p>
            <a:r>
              <a:rPr lang="en-US" dirty="0"/>
              <a:t>Packet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1FF84-C381-A2F2-6386-7100B7E86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98" y="2367758"/>
            <a:ext cx="3981981" cy="391874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1961: </a:t>
            </a:r>
            <a:r>
              <a:rPr lang="en-US" dirty="0"/>
              <a:t>Leonard Kleinrock publishes </a:t>
            </a:r>
            <a:br>
              <a:rPr lang="en-US" dirty="0"/>
            </a:br>
            <a:r>
              <a:rPr lang="en-US" dirty="0"/>
              <a:t>his first paper on packet switching theory </a:t>
            </a:r>
          </a:p>
        </p:txBody>
      </p:sp>
    </p:spTree>
    <p:extLst>
      <p:ext uri="{BB962C8B-B14F-4D97-AF65-F5344CB8AC3E}">
        <p14:creationId xmlns:p14="http://schemas.microsoft.com/office/powerpoint/2010/main" val="3205537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F2149-19BC-F832-10A6-73C5D923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Leonard’s Big Idea: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3D2BB-4675-C566-EF8A-3EAF7B886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problem:  Circuit switching wastes resources</a:t>
            </a:r>
          </a:p>
          <a:p>
            <a:pPr lvl="1"/>
            <a:r>
              <a:rPr lang="en-US" dirty="0"/>
              <a:t>Dedicated paths sit idle during processing</a:t>
            </a:r>
          </a:p>
          <a:p>
            <a:pPr lvl="1"/>
            <a:r>
              <a:rPr lang="en-US" dirty="0"/>
              <a:t>Expensive network infrastructure underused</a:t>
            </a:r>
          </a:p>
          <a:p>
            <a:pPr marL="0" indent="0">
              <a:buNone/>
            </a:pPr>
            <a:r>
              <a:rPr lang="en-US" dirty="0"/>
              <a:t>The solution: Break messages into packets</a:t>
            </a:r>
          </a:p>
          <a:p>
            <a:pPr lvl="1"/>
            <a:r>
              <a:rPr lang="en-US" dirty="0"/>
              <a:t>Small independent pieces</a:t>
            </a:r>
          </a:p>
          <a:p>
            <a:pPr lvl="1"/>
            <a:r>
              <a:rPr lang="en-US" dirty="0"/>
              <a:t>Share network infrastructure</a:t>
            </a:r>
          </a:p>
          <a:p>
            <a:pPr lvl="1"/>
            <a:r>
              <a:rPr lang="en-US" dirty="0"/>
              <a:t>Automatic rerouting around failures</a:t>
            </a:r>
          </a:p>
          <a:p>
            <a:pPr marL="0" indent="0">
              <a:buNone/>
            </a:pPr>
            <a:r>
              <a:rPr lang="en-US" dirty="0"/>
              <a:t>Foundation:  Information Flow in Large Communication</a:t>
            </a:r>
          </a:p>
          <a:p>
            <a:pPr lvl="1"/>
            <a:r>
              <a:rPr lang="en-US" dirty="0"/>
              <a:t>Mathematical proof using queuing theory</a:t>
            </a:r>
          </a:p>
        </p:txBody>
      </p:sp>
    </p:spTree>
    <p:extLst>
      <p:ext uri="{BB962C8B-B14F-4D97-AF65-F5344CB8AC3E}">
        <p14:creationId xmlns:p14="http://schemas.microsoft.com/office/powerpoint/2010/main" val="177439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81C4-19FB-F410-9E0F-F1320FE2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vs Packet Switching:  Book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A297F-EF01-A963-78D1-77DBF79CD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Circuit Switching:</a:t>
            </a:r>
          </a:p>
          <a:p>
            <a:pPr lvl="1"/>
            <a:r>
              <a:rPr lang="en-US" dirty="0"/>
              <a:t>Reserve entire mail truck for one book</a:t>
            </a:r>
          </a:p>
          <a:p>
            <a:pPr lvl="1"/>
            <a:r>
              <a:rPr lang="en-US" dirty="0"/>
              <a:t>Wasteful, but guaranteed delivery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Packet Switching:</a:t>
            </a:r>
          </a:p>
          <a:p>
            <a:pPr lvl="1"/>
            <a:r>
              <a:rPr lang="en-US" dirty="0"/>
              <a:t>Mail each page separately</a:t>
            </a:r>
          </a:p>
          <a:p>
            <a:pPr lvl="1"/>
            <a:r>
              <a:rPr lang="en-US" dirty="0"/>
              <a:t>Efficient use of postal system</a:t>
            </a:r>
          </a:p>
          <a:p>
            <a:pPr lvl="1"/>
            <a:r>
              <a:rPr lang="en-US" dirty="0"/>
              <a:t>Pages reassembled at destination</a:t>
            </a:r>
          </a:p>
        </p:txBody>
      </p:sp>
    </p:spTree>
    <p:extLst>
      <p:ext uri="{BB962C8B-B14F-4D97-AF65-F5344CB8AC3E}">
        <p14:creationId xmlns:p14="http://schemas.microsoft.com/office/powerpoint/2010/main" val="153110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elephone and tape measure&#10;&#10;Description automatically generated with medium confidence">
            <a:extLst>
              <a:ext uri="{FF2B5EF4-FFF2-40B4-BE49-F238E27FC236}">
                <a16:creationId xmlns:a16="http://schemas.microsoft.com/office/drawing/2014/main" id="{5A7AC604-3704-16E8-D971-4071F329C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59" y="2082119"/>
            <a:ext cx="2972745" cy="38664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1997D2-7CEE-F5DB-B140-0E0DCEC7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15144" cy="1635125"/>
          </a:xfrm>
        </p:spPr>
        <p:txBody>
          <a:bodyPr>
            <a:normAutofit/>
          </a:bodyPr>
          <a:lstStyle/>
          <a:p>
            <a:r>
              <a:rPr lang="en-US" dirty="0"/>
              <a:t>First Connection (1965): MIT to California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1FF84-C381-A2F2-6386-7100B7E86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9374" y="2082119"/>
            <a:ext cx="8055397" cy="432301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1965</a:t>
            </a:r>
            <a:r>
              <a:rPr lang="en-US" dirty="0"/>
              <a:t>: The first computer-to-computer communication over a telephone line is achieved by Lawrence G. Roberts and Thomas Merrill</a:t>
            </a:r>
          </a:p>
          <a:p>
            <a:pPr lvl="1"/>
            <a:r>
              <a:rPr lang="en-US" b="1" dirty="0"/>
              <a:t>Bell 103A Modem </a:t>
            </a:r>
            <a:r>
              <a:rPr lang="en-US" dirty="0"/>
              <a:t>(Similar specs to what was used)</a:t>
            </a:r>
          </a:p>
          <a:p>
            <a:pPr lvl="1"/>
            <a:r>
              <a:rPr lang="en-US" b="1" dirty="0"/>
              <a:t>Data Rate:</a:t>
            </a:r>
            <a:r>
              <a:rPr lang="en-US" dirty="0"/>
              <a:t> 300 bits per second (bps) </a:t>
            </a:r>
          </a:p>
          <a:p>
            <a:pPr lvl="1"/>
            <a:r>
              <a:rPr lang="en-US" dirty="0"/>
              <a:t>About 37 characters of text per second</a:t>
            </a:r>
          </a:p>
          <a:p>
            <a:pPr lvl="1"/>
            <a:r>
              <a:rPr lang="en-US" b="1" dirty="0"/>
              <a:t>Connection Type:</a:t>
            </a:r>
            <a:r>
              <a:rPr lang="en-US" dirty="0"/>
              <a:t> Dial-up, using analog telephone lines</a:t>
            </a:r>
          </a:p>
          <a:p>
            <a:pPr marL="0" indent="0">
              <a:buNone/>
            </a:pPr>
            <a:r>
              <a:rPr lang="en-US" dirty="0"/>
              <a:t>Took several tries, finally worked!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Proved remote computer communication was feasible</a:t>
            </a:r>
          </a:p>
        </p:txBody>
      </p:sp>
    </p:spTree>
    <p:extLst>
      <p:ext uri="{BB962C8B-B14F-4D97-AF65-F5344CB8AC3E}">
        <p14:creationId xmlns:p14="http://schemas.microsoft.com/office/powerpoint/2010/main" val="3643397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407F-D938-BE62-5B4F-8AFDC91E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Birth of ARPANET (1969)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C27CF-815E-5509-04A6-98E87B671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First Packet-Switched Network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Funded by the U.S. Department of Defense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Goal: to develop a resilient (withstand nuclear attack), decentralized communication network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becomes the first packet-switched network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Network Control Protocol (NCP) for communication between nodes.</a:t>
            </a:r>
          </a:p>
          <a:p>
            <a:r>
              <a:rPr lang="en-US" dirty="0"/>
              <a:t>precursor to the Internet.</a:t>
            </a:r>
          </a:p>
          <a:p>
            <a:r>
              <a:rPr lang="en-US" dirty="0"/>
              <a:t>Leadership:  Steve Crocker, Vincent Cerf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865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2FD0-1A31-59AD-86C6-315FFB8C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ARPANET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6618C-B41E-99D8-5164-3D1D199B7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Building for Resilience</a:t>
            </a:r>
          </a:p>
          <a:p>
            <a:r>
              <a:rPr lang="en-US" dirty="0"/>
              <a:t>Interface Message Processors (IMPs) at each node</a:t>
            </a:r>
          </a:p>
          <a:p>
            <a:r>
              <a:rPr lang="en-US" dirty="0"/>
              <a:t>Network Control Protocol (NCP)</a:t>
            </a:r>
          </a:p>
          <a:p>
            <a:r>
              <a:rPr lang="en-US" dirty="0"/>
              <a:t>Distribute routing (no central control)</a:t>
            </a:r>
          </a:p>
          <a:p>
            <a:r>
              <a:rPr lang="en-US" dirty="0"/>
              <a:t>Automatic adaptation to failures</a:t>
            </a:r>
          </a:p>
          <a:p>
            <a:r>
              <a:rPr lang="en-US" dirty="0"/>
              <a:t>Open standards for growth</a:t>
            </a:r>
          </a:p>
        </p:txBody>
      </p:sp>
    </p:spTree>
    <p:extLst>
      <p:ext uri="{BB962C8B-B14F-4D97-AF65-F5344CB8AC3E}">
        <p14:creationId xmlns:p14="http://schemas.microsoft.com/office/powerpoint/2010/main" val="192151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D07BD-C91D-E3AF-558C-8E9FA6D6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ARPANET 1969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52F0F3-2FAD-BB29-81B2-CAD95E886BF9}"/>
              </a:ext>
            </a:extLst>
          </p:cNvPr>
          <p:cNvSpPr/>
          <p:nvPr/>
        </p:nvSpPr>
        <p:spPr>
          <a:xfrm>
            <a:off x="2404533" y="2167467"/>
            <a:ext cx="2506134" cy="1261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UCLA</a:t>
            </a:r>
            <a:br>
              <a:rPr lang="en-US" dirty="0"/>
            </a:br>
            <a:r>
              <a:rPr lang="en-US" dirty="0"/>
              <a:t> (Kleinrock’s lab)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24CBC0-1F04-A673-CA85-4D9006FAF47B}"/>
              </a:ext>
            </a:extLst>
          </p:cNvPr>
          <p:cNvSpPr/>
          <p:nvPr/>
        </p:nvSpPr>
        <p:spPr>
          <a:xfrm>
            <a:off x="5793909" y="2167467"/>
            <a:ext cx="2506134" cy="1261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Stanford </a:t>
            </a:r>
            <a:br>
              <a:rPr lang="en-US" dirty="0"/>
            </a:br>
            <a:r>
              <a:rPr lang="en-US" dirty="0"/>
              <a:t>Research Institute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0B2DDD-E8D3-269E-E5A5-5FAF15187DDF}"/>
              </a:ext>
            </a:extLst>
          </p:cNvPr>
          <p:cNvSpPr/>
          <p:nvPr/>
        </p:nvSpPr>
        <p:spPr>
          <a:xfrm>
            <a:off x="2404533" y="3905779"/>
            <a:ext cx="2506134" cy="1261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UC</a:t>
            </a:r>
            <a:br>
              <a:rPr lang="en-US" dirty="0"/>
            </a:br>
            <a:r>
              <a:rPr lang="en-US" dirty="0"/>
              <a:t>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F6840-98BF-C88C-5653-72C30878C3C1}"/>
              </a:ext>
            </a:extLst>
          </p:cNvPr>
          <p:cNvSpPr/>
          <p:nvPr/>
        </p:nvSpPr>
        <p:spPr>
          <a:xfrm>
            <a:off x="5793909" y="3823483"/>
            <a:ext cx="2506134" cy="1261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University</a:t>
            </a:r>
            <a:br>
              <a:rPr lang="en-US" dirty="0"/>
            </a:br>
            <a:r>
              <a:rPr lang="en-US" dirty="0"/>
              <a:t>of Utah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F6ED9E-8E40-DF1D-C7BE-EB7DD2688949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910667" y="2798234"/>
            <a:ext cx="8832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304C0-4AC7-9BEE-2A05-5DFF59F89134}"/>
              </a:ext>
            </a:extLst>
          </p:cNvPr>
          <p:cNvCxnSpPr>
            <a:stCxn id="5" idx="1"/>
          </p:cNvCxnSpPr>
          <p:nvPr/>
        </p:nvCxnSpPr>
        <p:spPr>
          <a:xfrm flipH="1">
            <a:off x="4910667" y="2798234"/>
            <a:ext cx="883242" cy="110754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F75251-C939-1704-82F8-12A723576E61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3657600" y="3429000"/>
            <a:ext cx="0" cy="476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3EE0FB-F09C-C38F-4687-9283BFB7DC2E}"/>
              </a:ext>
            </a:extLst>
          </p:cNvPr>
          <p:cNvCxnSpPr>
            <a:stCxn id="6" idx="3"/>
          </p:cNvCxnSpPr>
          <p:nvPr/>
        </p:nvCxnSpPr>
        <p:spPr>
          <a:xfrm flipV="1">
            <a:off x="4910667" y="4536545"/>
            <a:ext cx="88324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345C671-0C50-3139-D0D6-463AA1199F52}"/>
              </a:ext>
            </a:extLst>
          </p:cNvPr>
          <p:cNvSpPr txBox="1"/>
          <p:nvPr/>
        </p:nvSpPr>
        <p:spPr>
          <a:xfrm>
            <a:off x="9582912" y="5085016"/>
            <a:ext cx="17979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UCLA – SRI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SRI – UCSB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UCLA UCSB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UCSB – Utah</a:t>
            </a:r>
          </a:p>
        </p:txBody>
      </p:sp>
    </p:spTree>
    <p:extLst>
      <p:ext uri="{BB962C8B-B14F-4D97-AF65-F5344CB8AC3E}">
        <p14:creationId xmlns:p14="http://schemas.microsoft.com/office/powerpoint/2010/main" val="2749707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FE00E-C8F5-D82B-FC2C-01A912B1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ARPANET 1970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FEC37-1B68-5B2C-D4C5-9DD4F47A1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 1. </a:t>
            </a:r>
            <a:r>
              <a:rPr lang="en-US" b="1" dirty="0"/>
              <a:t>UCLA</a:t>
            </a:r>
            <a:r>
              <a:rPr lang="en-US" dirty="0"/>
              <a:t> (Sept 1969)</a:t>
            </a:r>
          </a:p>
          <a:p>
            <a:pPr marL="0" indent="0">
              <a:buNone/>
            </a:pPr>
            <a:r>
              <a:rPr lang="en-US" dirty="0"/>
              <a:t>  2. </a:t>
            </a:r>
            <a:r>
              <a:rPr lang="en-US" b="1" dirty="0"/>
              <a:t>Stanford Research Institute (SRI)</a:t>
            </a:r>
            <a:r>
              <a:rPr lang="en-US" dirty="0"/>
              <a:t> (Oct 1969)</a:t>
            </a:r>
          </a:p>
          <a:p>
            <a:pPr marL="0" indent="0">
              <a:buNone/>
            </a:pPr>
            <a:r>
              <a:rPr lang="en-US" dirty="0"/>
              <a:t>  3. </a:t>
            </a:r>
            <a:r>
              <a:rPr lang="en-US" b="1" dirty="0"/>
              <a:t>UC Santa Barbara (UCSB)</a:t>
            </a:r>
            <a:r>
              <a:rPr lang="en-US" dirty="0"/>
              <a:t> (Nov 1969)</a:t>
            </a:r>
          </a:p>
          <a:p>
            <a:pPr marL="0" indent="0">
              <a:buNone/>
            </a:pPr>
            <a:r>
              <a:rPr lang="en-US" dirty="0"/>
              <a:t>  4. </a:t>
            </a:r>
            <a:r>
              <a:rPr lang="en-US" b="1" dirty="0"/>
              <a:t>University of Utah</a:t>
            </a:r>
            <a:r>
              <a:rPr lang="en-US" dirty="0"/>
              <a:t> (Dec 1969)</a:t>
            </a:r>
          </a:p>
          <a:p>
            <a:pPr marL="0" indent="0">
              <a:buNone/>
            </a:pPr>
            <a:r>
              <a:rPr lang="en-US" dirty="0"/>
              <a:t>  5. </a:t>
            </a:r>
            <a:r>
              <a:rPr lang="en-US" b="1" dirty="0"/>
              <a:t>BBN</a:t>
            </a:r>
            <a:r>
              <a:rPr lang="en-US" dirty="0"/>
              <a:t> (Bolt, Beranek &amp; Newman, Cambridge, MA) - Early 1970</a:t>
            </a:r>
          </a:p>
          <a:p>
            <a:pPr marL="0" indent="0">
              <a:buNone/>
            </a:pPr>
            <a:r>
              <a:rPr lang="en-US" dirty="0"/>
              <a:t>  6. </a:t>
            </a:r>
            <a:r>
              <a:rPr lang="en-US" b="1" dirty="0"/>
              <a:t>MIT</a:t>
            </a:r>
            <a:r>
              <a:rPr lang="en-US" dirty="0"/>
              <a:t> (Massachusetts Institute of Technology) - Mid 1970</a:t>
            </a:r>
          </a:p>
          <a:p>
            <a:pPr marL="0" indent="0">
              <a:buNone/>
            </a:pPr>
            <a:r>
              <a:rPr lang="en-US" dirty="0"/>
              <a:t>  7. </a:t>
            </a:r>
            <a:r>
              <a:rPr lang="en-US" b="1" dirty="0"/>
              <a:t>RAND Corporation</a:t>
            </a:r>
            <a:r>
              <a:rPr lang="en-US" dirty="0"/>
              <a:t> (Santa Monica) - Mid 1970</a:t>
            </a:r>
          </a:p>
          <a:p>
            <a:pPr marL="0" indent="0">
              <a:buNone/>
            </a:pPr>
            <a:r>
              <a:rPr lang="en-US" dirty="0"/>
              <a:t>  8. </a:t>
            </a:r>
            <a:r>
              <a:rPr lang="en-US" b="1" dirty="0"/>
              <a:t>SDC</a:t>
            </a:r>
            <a:r>
              <a:rPr lang="en-US" dirty="0"/>
              <a:t> (Systems Development Corporation, Santa Monica) - Mid 1970</a:t>
            </a:r>
          </a:p>
          <a:p>
            <a:pPr marL="0" indent="0">
              <a:buNone/>
            </a:pPr>
            <a:r>
              <a:rPr lang="en-US" dirty="0"/>
              <a:t>  9. </a:t>
            </a:r>
            <a:r>
              <a:rPr lang="en-US" b="1" dirty="0"/>
              <a:t>Harvard University</a:t>
            </a:r>
            <a:r>
              <a:rPr lang="en-US" dirty="0"/>
              <a:t> - Mid 1970</a:t>
            </a:r>
          </a:p>
          <a:p>
            <a:pPr marL="0" indent="0">
              <a:buNone/>
            </a:pPr>
            <a:r>
              <a:rPr lang="en-US" dirty="0"/>
              <a:t>  10. </a:t>
            </a:r>
            <a:r>
              <a:rPr lang="en-US" b="1" dirty="0"/>
              <a:t>Lincoln Laboratory</a:t>
            </a:r>
            <a:r>
              <a:rPr lang="en-US" dirty="0"/>
              <a:t> (Lexington, MA) - Late 1970</a:t>
            </a:r>
          </a:p>
          <a:p>
            <a:pPr marL="0" indent="0">
              <a:buNone/>
            </a:pPr>
            <a:r>
              <a:rPr lang="en-US" dirty="0"/>
              <a:t>  11. </a:t>
            </a:r>
            <a:r>
              <a:rPr lang="en-US" b="1" dirty="0"/>
              <a:t>Stanford University</a:t>
            </a:r>
            <a:r>
              <a:rPr lang="en-US" dirty="0"/>
              <a:t> - Late 1970</a:t>
            </a:r>
          </a:p>
          <a:p>
            <a:pPr marL="0" indent="0">
              <a:buNone/>
            </a:pPr>
            <a:r>
              <a:rPr lang="en-US" dirty="0"/>
              <a:t>  12. </a:t>
            </a:r>
            <a:r>
              <a:rPr lang="en-US" b="1" dirty="0"/>
              <a:t>Carnegie Mellon University</a:t>
            </a:r>
            <a:r>
              <a:rPr lang="en-US" dirty="0"/>
              <a:t> - Late 1970</a:t>
            </a:r>
          </a:p>
          <a:p>
            <a:pPr marL="0" indent="0">
              <a:buNone/>
            </a:pPr>
            <a:r>
              <a:rPr lang="en-US" dirty="0"/>
              <a:t>  13. </a:t>
            </a:r>
            <a:r>
              <a:rPr lang="en-US" b="1" dirty="0"/>
              <a:t>Case Western Reserve University</a:t>
            </a:r>
            <a:r>
              <a:rPr lang="en-US" dirty="0"/>
              <a:t> - Late 1970</a:t>
            </a:r>
          </a:p>
        </p:txBody>
      </p:sp>
    </p:spTree>
    <p:extLst>
      <p:ext uri="{BB962C8B-B14F-4D97-AF65-F5344CB8AC3E}">
        <p14:creationId xmlns:p14="http://schemas.microsoft.com/office/powerpoint/2010/main" val="3362764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E445-2B93-844A-1627-CC43D5DC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ARPANET 1971 (15 Nodes, 23 Hosts – Email!)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6E846-5DC1-900B-56EE-D62C6D13C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  1. </a:t>
            </a:r>
            <a:r>
              <a:rPr lang="en-US" b="1" dirty="0"/>
              <a:t>UCLA</a:t>
            </a:r>
            <a:r>
              <a:rPr lang="en-US" dirty="0"/>
              <a:t> (University of California, Los Angeles)</a:t>
            </a:r>
          </a:p>
          <a:p>
            <a:pPr marL="0" indent="0">
              <a:buNone/>
            </a:pPr>
            <a:r>
              <a:rPr lang="en-US" dirty="0"/>
              <a:t>  2. </a:t>
            </a:r>
            <a:r>
              <a:rPr lang="en-US" b="1" dirty="0"/>
              <a:t>SRI</a:t>
            </a:r>
            <a:r>
              <a:rPr lang="en-US" dirty="0"/>
              <a:t> (Stanford Research Institute)</a:t>
            </a:r>
          </a:p>
          <a:p>
            <a:pPr marL="0" indent="0">
              <a:buNone/>
            </a:pPr>
            <a:r>
              <a:rPr lang="en-US" dirty="0"/>
              <a:t>  3. </a:t>
            </a:r>
            <a:r>
              <a:rPr lang="en-US" b="1" dirty="0"/>
              <a:t>UCSB</a:t>
            </a:r>
            <a:r>
              <a:rPr lang="en-US" dirty="0"/>
              <a:t> (University of California, Santa Barbara)</a:t>
            </a:r>
          </a:p>
          <a:p>
            <a:pPr marL="0" indent="0">
              <a:buNone/>
            </a:pPr>
            <a:r>
              <a:rPr lang="en-US" dirty="0"/>
              <a:t>  4. </a:t>
            </a:r>
            <a:r>
              <a:rPr lang="en-US" b="1" dirty="0"/>
              <a:t>University of Utah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 5. </a:t>
            </a:r>
            <a:r>
              <a:rPr lang="en-US" b="1" dirty="0"/>
              <a:t>BBN</a:t>
            </a:r>
            <a:r>
              <a:rPr lang="en-US" dirty="0"/>
              <a:t> (Bolt, Beranek and Newman, Cambridge, MA)</a:t>
            </a:r>
          </a:p>
          <a:p>
            <a:pPr marL="0" indent="0">
              <a:buNone/>
            </a:pPr>
            <a:r>
              <a:rPr lang="en-US" dirty="0"/>
              <a:t>  6. </a:t>
            </a:r>
            <a:r>
              <a:rPr lang="en-US" b="1" dirty="0"/>
              <a:t>MIT</a:t>
            </a:r>
            <a:r>
              <a:rPr lang="en-US" dirty="0"/>
              <a:t> (Massachusetts Institute of Technology)</a:t>
            </a:r>
          </a:p>
          <a:p>
            <a:pPr marL="0" indent="0">
              <a:buNone/>
            </a:pPr>
            <a:r>
              <a:rPr lang="en-US" dirty="0"/>
              <a:t>  7. </a:t>
            </a:r>
            <a:r>
              <a:rPr lang="en-US" b="1" dirty="0"/>
              <a:t>RAND</a:t>
            </a:r>
            <a:r>
              <a:rPr lang="en-US" dirty="0"/>
              <a:t> (RAND Corporation, Santa Monica)</a:t>
            </a:r>
          </a:p>
          <a:p>
            <a:pPr marL="0" indent="0">
              <a:buNone/>
            </a:pPr>
            <a:r>
              <a:rPr lang="en-US" dirty="0"/>
              <a:t>  8. </a:t>
            </a:r>
            <a:r>
              <a:rPr lang="en-US" b="1" dirty="0"/>
              <a:t>SDC</a:t>
            </a:r>
            <a:r>
              <a:rPr lang="en-US" dirty="0"/>
              <a:t> (System Development Corporation, Santa Monica)</a:t>
            </a:r>
          </a:p>
          <a:p>
            <a:pPr marL="0" indent="0">
              <a:buNone/>
            </a:pPr>
            <a:r>
              <a:rPr lang="en-US" dirty="0"/>
              <a:t>  9. </a:t>
            </a:r>
            <a:r>
              <a:rPr lang="en-US" b="1" dirty="0"/>
              <a:t>Harvard University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 10. </a:t>
            </a:r>
            <a:r>
              <a:rPr lang="en-US" b="1" dirty="0"/>
              <a:t>Lincoln Lab</a:t>
            </a:r>
            <a:r>
              <a:rPr lang="en-US" dirty="0"/>
              <a:t> (MIT Lincoln Laboratory, Lexington, MA)</a:t>
            </a:r>
          </a:p>
          <a:p>
            <a:pPr marL="0" indent="0">
              <a:buNone/>
            </a:pPr>
            <a:r>
              <a:rPr lang="en-US" dirty="0"/>
              <a:t>  11. </a:t>
            </a:r>
            <a:r>
              <a:rPr lang="en-US" b="1" dirty="0"/>
              <a:t>Stanford University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 12. </a:t>
            </a:r>
            <a:r>
              <a:rPr lang="en-US" b="1" dirty="0"/>
              <a:t>UIU(C)</a:t>
            </a:r>
            <a:r>
              <a:rPr lang="en-US" dirty="0"/>
              <a:t> (University of Illinois at Urbana-Champaign)</a:t>
            </a:r>
          </a:p>
          <a:p>
            <a:pPr marL="0" indent="0">
              <a:buNone/>
            </a:pPr>
            <a:r>
              <a:rPr lang="en-US" dirty="0"/>
              <a:t>  13. </a:t>
            </a:r>
            <a:r>
              <a:rPr lang="en-US" b="1" dirty="0"/>
              <a:t>CWRU</a:t>
            </a:r>
            <a:r>
              <a:rPr lang="en-US" dirty="0"/>
              <a:t> (Case Western Reserve University)</a:t>
            </a:r>
          </a:p>
          <a:p>
            <a:pPr marL="0" indent="0">
              <a:buNone/>
            </a:pPr>
            <a:r>
              <a:rPr lang="en-US" dirty="0"/>
              <a:t>  14. </a:t>
            </a:r>
            <a:r>
              <a:rPr lang="en-US" b="1" dirty="0"/>
              <a:t>CMU</a:t>
            </a:r>
            <a:r>
              <a:rPr lang="en-US" dirty="0"/>
              <a:t> (Carnegie Mellon University)</a:t>
            </a:r>
          </a:p>
          <a:p>
            <a:pPr marL="0" indent="0">
              <a:buNone/>
            </a:pPr>
            <a:r>
              <a:rPr lang="en-US" dirty="0"/>
              <a:t>  15. </a:t>
            </a:r>
            <a:r>
              <a:rPr lang="en-US" b="1" dirty="0"/>
              <a:t>NASA/Ames</a:t>
            </a:r>
            <a:r>
              <a:rPr lang="en-US" dirty="0"/>
              <a:t> (NASA Ames Research Center)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671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DC0F-B7C2-B046-46C4-540DAD109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ARPANET 1972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C30F3-6C0D-F094-E2CB-16AC8F657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public demonstration of ARPANET</a:t>
            </a:r>
          </a:p>
          <a:p>
            <a:r>
              <a:rPr lang="en-US" dirty="0"/>
              <a:t>Network Control Protocol (NCP) enables host-to-host communication</a:t>
            </a:r>
          </a:p>
          <a:p>
            <a:r>
              <a:rPr lang="en-US" dirty="0"/>
              <a:t>Proves packet switching works at scale</a:t>
            </a:r>
          </a:p>
        </p:txBody>
      </p:sp>
    </p:spTree>
    <p:extLst>
      <p:ext uri="{BB962C8B-B14F-4D97-AF65-F5344CB8AC3E}">
        <p14:creationId xmlns:p14="http://schemas.microsoft.com/office/powerpoint/2010/main" val="4084396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2FF9-3D28-FCE3-1997-CA2F5913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313AA-909B-B086-A5BE-F51613D4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ARPANET 1973 (40+ Nodes/Hosts)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2134A-9B52-EFD6-16C2-B434019C0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825625"/>
            <a:ext cx="10951029" cy="4351338"/>
          </a:xfrm>
        </p:spPr>
        <p:txBody>
          <a:bodyPr numCol="3"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  1. </a:t>
            </a:r>
            <a:r>
              <a:rPr lang="en-US" b="1" dirty="0"/>
              <a:t>UCLA</a:t>
            </a:r>
            <a:r>
              <a:rPr lang="en-US" dirty="0"/>
              <a:t> - Multiple systems (Sigma 7, IBM 360/91, PDP-10)</a:t>
            </a:r>
          </a:p>
          <a:p>
            <a:pPr marL="0" indent="0">
              <a:buNone/>
            </a:pPr>
            <a:r>
              <a:rPr lang="en-US" dirty="0"/>
              <a:t>  2. </a:t>
            </a:r>
            <a:r>
              <a:rPr lang="en-US" b="1" dirty="0"/>
              <a:t>SRI</a:t>
            </a:r>
            <a:r>
              <a:rPr lang="en-US" dirty="0"/>
              <a:t> (Stanford Research Institute) - PDP-10 systems</a:t>
            </a:r>
          </a:p>
          <a:p>
            <a:pPr marL="0" indent="0">
              <a:buNone/>
            </a:pPr>
            <a:r>
              <a:rPr lang="en-US" dirty="0"/>
              <a:t>  3. </a:t>
            </a:r>
            <a:r>
              <a:rPr lang="en-US" b="1" dirty="0"/>
              <a:t>UCSB</a:t>
            </a:r>
            <a:r>
              <a:rPr lang="en-US" dirty="0"/>
              <a:t> (UC Santa Barbara) - IBM 360/75, PDP-11</a:t>
            </a:r>
          </a:p>
          <a:p>
            <a:pPr marL="0" indent="0">
              <a:buNone/>
            </a:pPr>
            <a:r>
              <a:rPr lang="en-US" dirty="0"/>
              <a:t>  4. </a:t>
            </a:r>
            <a:r>
              <a:rPr lang="en-US" b="1" dirty="0"/>
              <a:t>University of Utah</a:t>
            </a:r>
            <a:r>
              <a:rPr lang="en-US" dirty="0"/>
              <a:t> - PDP-10, TIP</a:t>
            </a:r>
          </a:p>
          <a:p>
            <a:pPr marL="0" indent="0">
              <a:buNone/>
            </a:pPr>
            <a:r>
              <a:rPr lang="en-US" dirty="0"/>
              <a:t>  5. </a:t>
            </a:r>
            <a:r>
              <a:rPr lang="en-US" b="1" dirty="0"/>
              <a:t>Stanford University</a:t>
            </a:r>
            <a:r>
              <a:rPr lang="en-US" dirty="0"/>
              <a:t> - PDP-10, PDP-11</a:t>
            </a:r>
          </a:p>
          <a:p>
            <a:pPr marL="0" indent="0">
              <a:buNone/>
            </a:pPr>
            <a:r>
              <a:rPr lang="en-US" dirty="0"/>
              <a:t>  6. </a:t>
            </a:r>
            <a:r>
              <a:rPr lang="en-US" b="1" dirty="0"/>
              <a:t>MIT</a:t>
            </a:r>
            <a:r>
              <a:rPr lang="en-US" dirty="0"/>
              <a:t> - Multiple systems (Multics, PDP-10s)</a:t>
            </a:r>
          </a:p>
          <a:p>
            <a:pPr marL="0" indent="0">
              <a:buNone/>
            </a:pPr>
            <a:r>
              <a:rPr lang="en-US" dirty="0"/>
              <a:t>  7. </a:t>
            </a:r>
            <a:r>
              <a:rPr lang="en-US" b="1" dirty="0"/>
              <a:t>Harvard</a:t>
            </a:r>
            <a:r>
              <a:rPr lang="en-US" dirty="0"/>
              <a:t> - PDP-10, PDP-1, PDP-11</a:t>
            </a:r>
          </a:p>
          <a:p>
            <a:pPr marL="0" indent="0">
              <a:buNone/>
            </a:pPr>
            <a:r>
              <a:rPr lang="en-US" dirty="0"/>
              <a:t>  8. </a:t>
            </a:r>
            <a:r>
              <a:rPr lang="en-US" b="1" dirty="0"/>
              <a:t>Lincoln Lab (MIT)</a:t>
            </a:r>
            <a:r>
              <a:rPr lang="en-US" dirty="0"/>
              <a:t> - IBM 360/67, TX-2, PDP-11</a:t>
            </a:r>
          </a:p>
          <a:p>
            <a:pPr marL="0" indent="0">
              <a:buNone/>
            </a:pPr>
            <a:r>
              <a:rPr lang="en-US" dirty="0"/>
              <a:t>  9. </a:t>
            </a:r>
            <a:r>
              <a:rPr lang="en-US" b="1" dirty="0"/>
              <a:t>CMU</a:t>
            </a:r>
            <a:r>
              <a:rPr lang="en-US" dirty="0"/>
              <a:t> (Carnegie Mellon) - Multiple PDP-10s, IBM 360/67</a:t>
            </a:r>
          </a:p>
          <a:p>
            <a:pPr marL="0" indent="0">
              <a:buNone/>
            </a:pPr>
            <a:r>
              <a:rPr lang="en-US" dirty="0"/>
              <a:t>  10. </a:t>
            </a:r>
            <a:r>
              <a:rPr lang="en-US" b="1" dirty="0"/>
              <a:t>Case Western Reserve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 11. </a:t>
            </a:r>
            <a:r>
              <a:rPr lang="en-US" b="1" dirty="0"/>
              <a:t>University of Illinois</a:t>
            </a:r>
            <a:r>
              <a:rPr lang="en-US" dirty="0"/>
              <a:t> - PDP-11 systems</a:t>
            </a:r>
          </a:p>
          <a:p>
            <a:pPr marL="0" indent="0">
              <a:buNone/>
            </a:pPr>
            <a:r>
              <a:rPr lang="en-US" dirty="0"/>
              <a:t>  12. </a:t>
            </a:r>
            <a:r>
              <a:rPr lang="en-US" b="1" dirty="0"/>
              <a:t>UC Berkeley</a:t>
            </a:r>
            <a:r>
              <a:rPr lang="en-US" dirty="0"/>
              <a:t> - PDP-11/45</a:t>
            </a:r>
          </a:p>
          <a:p>
            <a:pPr marL="0" indent="0">
              <a:buNone/>
            </a:pPr>
            <a:r>
              <a:rPr lang="en-US" dirty="0"/>
              <a:t>  13. </a:t>
            </a:r>
            <a:r>
              <a:rPr lang="en-US" b="1" dirty="0"/>
              <a:t>UCSD</a:t>
            </a:r>
            <a:r>
              <a:rPr lang="en-US" dirty="0"/>
              <a:t> (UC San Diego) - B6700</a:t>
            </a:r>
          </a:p>
          <a:p>
            <a:pPr marL="0" indent="0">
              <a:buNone/>
            </a:pPr>
            <a:r>
              <a:rPr lang="en-US" dirty="0"/>
              <a:t>  14. </a:t>
            </a:r>
            <a:r>
              <a:rPr lang="en-US" b="1" dirty="0"/>
              <a:t>Rutgers University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 15. </a:t>
            </a:r>
            <a:r>
              <a:rPr lang="en-US" b="1" dirty="0"/>
              <a:t>BBN</a:t>
            </a:r>
            <a:r>
              <a:rPr lang="en-US" dirty="0"/>
              <a:t> (Bolt, Beranek &amp; Newman) - Multiple systems</a:t>
            </a:r>
          </a:p>
          <a:p>
            <a:pPr marL="0" indent="0">
              <a:buNone/>
            </a:pPr>
            <a:r>
              <a:rPr lang="en-US" dirty="0"/>
              <a:t>  16. </a:t>
            </a:r>
            <a:r>
              <a:rPr lang="en-US" b="1" dirty="0"/>
              <a:t>RAND Corporation</a:t>
            </a:r>
            <a:r>
              <a:rPr lang="en-US" dirty="0"/>
              <a:t> - IBM 370/158</a:t>
            </a:r>
          </a:p>
          <a:p>
            <a:pPr marL="0" indent="0">
              <a:buNone/>
            </a:pPr>
            <a:r>
              <a:rPr lang="en-US" dirty="0"/>
              <a:t>  17. </a:t>
            </a:r>
            <a:r>
              <a:rPr lang="en-US" b="1" dirty="0"/>
              <a:t>SDC</a:t>
            </a:r>
            <a:r>
              <a:rPr lang="en-US" dirty="0"/>
              <a:t> (System Development Corp) - IBM 370s</a:t>
            </a:r>
          </a:p>
          <a:p>
            <a:pPr marL="0" indent="0">
              <a:buNone/>
            </a:pPr>
            <a:r>
              <a:rPr lang="en-US" dirty="0"/>
              <a:t>  18. </a:t>
            </a:r>
            <a:r>
              <a:rPr lang="en-US" b="1" dirty="0"/>
              <a:t>USC-ISI</a:t>
            </a:r>
            <a:r>
              <a:rPr lang="en-US" dirty="0"/>
              <a:t> (USC Information Sciences Institute) - Multiple systems</a:t>
            </a:r>
          </a:p>
          <a:p>
            <a:pPr marL="0" indent="0">
              <a:buNone/>
            </a:pPr>
            <a:r>
              <a:rPr lang="en-US" dirty="0"/>
              <a:t>  19. </a:t>
            </a:r>
            <a:r>
              <a:rPr lang="en-US" b="1" dirty="0"/>
              <a:t>Xerox PARC</a:t>
            </a:r>
            <a:r>
              <a:rPr lang="en-US" dirty="0"/>
              <a:t> - MAXC, Nova 800, PDP-11</a:t>
            </a:r>
          </a:p>
          <a:p>
            <a:pPr marL="0" indent="0">
              <a:buNone/>
            </a:pPr>
            <a:r>
              <a:rPr lang="en-US" dirty="0"/>
              <a:t>  20. </a:t>
            </a:r>
            <a:r>
              <a:rPr lang="en-US" b="1" dirty="0"/>
              <a:t>SRI International</a:t>
            </a:r>
            <a:r>
              <a:rPr lang="en-US" dirty="0"/>
              <a:t> - Multiple systems</a:t>
            </a:r>
          </a:p>
          <a:p>
            <a:pPr marL="0" indent="0">
              <a:buNone/>
            </a:pPr>
            <a:r>
              <a:rPr lang="en-US" dirty="0"/>
              <a:t>  21. </a:t>
            </a:r>
            <a:r>
              <a:rPr lang="en-US" b="1" dirty="0"/>
              <a:t>ILLIAC IV</a:t>
            </a:r>
            <a:r>
              <a:rPr lang="en-US" dirty="0"/>
              <a:t> - PDP-10, PDP-11</a:t>
            </a:r>
          </a:p>
          <a:p>
            <a:pPr marL="0" indent="0">
              <a:buNone/>
            </a:pPr>
            <a:r>
              <a:rPr lang="en-US" dirty="0"/>
              <a:t>  22. </a:t>
            </a:r>
            <a:r>
              <a:rPr lang="en-US" b="1" dirty="0"/>
              <a:t>LBL</a:t>
            </a:r>
            <a:r>
              <a:rPr lang="en-US" dirty="0"/>
              <a:t> (Lawrence Berkeley Lab) - CDC 7600</a:t>
            </a:r>
          </a:p>
          <a:p>
            <a:pPr marL="0" indent="0">
              <a:buNone/>
            </a:pPr>
            <a:r>
              <a:rPr lang="en-US" dirty="0"/>
              <a:t>  23. </a:t>
            </a:r>
            <a:r>
              <a:rPr lang="en-US" b="1" dirty="0"/>
              <a:t>SCI</a:t>
            </a:r>
            <a:r>
              <a:rPr lang="en-US" dirty="0"/>
              <a:t> - SCL-85</a:t>
            </a:r>
          </a:p>
          <a:p>
            <a:pPr marL="0" indent="0">
              <a:buNone/>
            </a:pPr>
            <a:r>
              <a:rPr lang="en-US" dirty="0"/>
              <a:t>  24. </a:t>
            </a:r>
            <a:r>
              <a:rPr lang="en-US" b="1" dirty="0"/>
              <a:t>NASA Ames</a:t>
            </a:r>
            <a:r>
              <a:rPr lang="en-US" dirty="0"/>
              <a:t> - IBM 360/67, PDP-11, TIP</a:t>
            </a:r>
          </a:p>
          <a:p>
            <a:pPr marL="0" indent="0">
              <a:buNone/>
            </a:pPr>
            <a:r>
              <a:rPr lang="en-US" dirty="0"/>
              <a:t>  25. </a:t>
            </a:r>
            <a:r>
              <a:rPr lang="en-US" b="1" dirty="0"/>
              <a:t>NBS</a:t>
            </a:r>
            <a:r>
              <a:rPr lang="en-US" dirty="0"/>
              <a:t> (National Bureau of Standards) - PDP-11, TIP</a:t>
            </a:r>
          </a:p>
          <a:p>
            <a:pPr marL="0" indent="0">
              <a:buNone/>
            </a:pPr>
            <a:r>
              <a:rPr lang="en-US" dirty="0"/>
              <a:t>  26. </a:t>
            </a:r>
            <a:r>
              <a:rPr lang="en-US" b="1" dirty="0"/>
              <a:t>LLL</a:t>
            </a:r>
            <a:r>
              <a:rPr lang="en-US" dirty="0"/>
              <a:t> (Lawrence Livermore Lab) - PDP-11</a:t>
            </a:r>
          </a:p>
          <a:p>
            <a:pPr marL="0" indent="0">
              <a:buNone/>
            </a:pPr>
            <a:r>
              <a:rPr lang="en-US" dirty="0"/>
              <a:t>  27. </a:t>
            </a:r>
            <a:r>
              <a:rPr lang="en-US" b="1" dirty="0"/>
              <a:t>BRL</a:t>
            </a:r>
            <a:r>
              <a:rPr lang="en-US" dirty="0"/>
              <a:t> (Ballistics Research Lab) - PDP-11</a:t>
            </a:r>
          </a:p>
          <a:p>
            <a:pPr marL="0" indent="0">
              <a:buNone/>
            </a:pPr>
            <a:r>
              <a:rPr lang="en-US" dirty="0"/>
              <a:t>  28. </a:t>
            </a:r>
            <a:r>
              <a:rPr lang="en-US" b="1" dirty="0"/>
              <a:t>ARPA</a:t>
            </a:r>
            <a:r>
              <a:rPr lang="en-US" dirty="0"/>
              <a:t> - PDP-15, TIP</a:t>
            </a:r>
          </a:p>
          <a:p>
            <a:pPr marL="0" indent="0">
              <a:buNone/>
            </a:pPr>
            <a:r>
              <a:rPr lang="en-US" dirty="0"/>
              <a:t>  29. </a:t>
            </a:r>
            <a:r>
              <a:rPr lang="en-US" b="1" dirty="0"/>
              <a:t>RADC</a:t>
            </a:r>
            <a:r>
              <a:rPr lang="en-US" dirty="0"/>
              <a:t> (Rome Air Development Center) - TIP</a:t>
            </a:r>
          </a:p>
          <a:p>
            <a:pPr marL="0" indent="0">
              <a:buNone/>
            </a:pPr>
            <a:r>
              <a:rPr lang="en-US" dirty="0"/>
              <a:t>  30. </a:t>
            </a:r>
            <a:r>
              <a:rPr lang="en-US" b="1" dirty="0"/>
              <a:t>ETAC</a:t>
            </a:r>
            <a:r>
              <a:rPr lang="en-US" dirty="0"/>
              <a:t> (Environmental Technical Applications) - TIP</a:t>
            </a:r>
          </a:p>
          <a:p>
            <a:pPr marL="0" indent="0">
              <a:buNone/>
            </a:pPr>
            <a:r>
              <a:rPr lang="en-US" dirty="0"/>
              <a:t>  31. </a:t>
            </a:r>
            <a:r>
              <a:rPr lang="en-US" b="1" dirty="0"/>
              <a:t>GWC</a:t>
            </a:r>
            <a:r>
              <a:rPr lang="en-US" dirty="0"/>
              <a:t> (Global Weather Central) - TIP</a:t>
            </a:r>
          </a:p>
          <a:p>
            <a:pPr marL="0" indent="0">
              <a:buNone/>
            </a:pPr>
            <a:r>
              <a:rPr lang="en-US" dirty="0"/>
              <a:t>  32. </a:t>
            </a:r>
            <a:r>
              <a:rPr lang="en-US" b="1" dirty="0"/>
              <a:t>FNWC</a:t>
            </a:r>
            <a:r>
              <a:rPr lang="en-US" dirty="0"/>
              <a:t> (Fleet Numerical Weather Central) - CDC 6500, TIP</a:t>
            </a:r>
          </a:p>
          <a:p>
            <a:pPr marL="0" indent="0">
              <a:buNone/>
            </a:pPr>
            <a:r>
              <a:rPr lang="en-US" dirty="0"/>
              <a:t>  33. </a:t>
            </a:r>
            <a:r>
              <a:rPr lang="en-US" b="1" dirty="0"/>
              <a:t>AFWL</a:t>
            </a:r>
            <a:r>
              <a:rPr lang="en-US" dirty="0"/>
              <a:t> (Air Force Weapons Lab) - TIP</a:t>
            </a:r>
          </a:p>
          <a:p>
            <a:pPr marL="0" indent="0">
              <a:buNone/>
            </a:pPr>
            <a:r>
              <a:rPr lang="en-US" dirty="0"/>
              <a:t>  34. </a:t>
            </a:r>
            <a:r>
              <a:rPr lang="en-US" b="1" dirty="0"/>
              <a:t>WPAFB</a:t>
            </a:r>
            <a:r>
              <a:rPr lang="en-US" dirty="0"/>
              <a:t> (Wright-Patterson AFB) - TIP</a:t>
            </a:r>
          </a:p>
          <a:p>
            <a:pPr marL="0" indent="0">
              <a:buNone/>
            </a:pPr>
            <a:r>
              <a:rPr lang="en-US" dirty="0"/>
              <a:t>  35. </a:t>
            </a:r>
            <a:r>
              <a:rPr lang="en-US" b="1" dirty="0"/>
              <a:t>BELVOIR</a:t>
            </a:r>
            <a:r>
              <a:rPr lang="en-US" dirty="0"/>
              <a:t> - CDC 6600</a:t>
            </a:r>
          </a:p>
          <a:p>
            <a:pPr marL="0" indent="0">
              <a:buNone/>
            </a:pPr>
            <a:r>
              <a:rPr lang="en-US" dirty="0"/>
              <a:t>  36. </a:t>
            </a:r>
            <a:r>
              <a:rPr lang="en-US" b="1" dirty="0"/>
              <a:t>SDAC</a:t>
            </a:r>
            <a:r>
              <a:rPr lang="en-US" dirty="0"/>
              <a:t> - IBM 360/44, TIP</a:t>
            </a:r>
          </a:p>
          <a:p>
            <a:pPr marL="0" indent="0">
              <a:buNone/>
            </a:pPr>
            <a:r>
              <a:rPr lang="en-US" dirty="0"/>
              <a:t>  37. </a:t>
            </a:r>
            <a:r>
              <a:rPr lang="en-US" b="1" dirty="0"/>
              <a:t>MITRE Corporation</a:t>
            </a:r>
            <a:r>
              <a:rPr lang="en-US" dirty="0"/>
              <a:t> - TIP</a:t>
            </a:r>
          </a:p>
          <a:p>
            <a:pPr marL="0" indent="0">
              <a:buNone/>
            </a:pPr>
            <a:r>
              <a:rPr lang="en-US" dirty="0"/>
              <a:t>  38. </a:t>
            </a:r>
            <a:r>
              <a:rPr lang="en-US" b="1" dirty="0"/>
              <a:t>CCA</a:t>
            </a:r>
            <a:r>
              <a:rPr lang="en-US" dirty="0"/>
              <a:t> (Computer Corporation of America) - PDP-10, TIP</a:t>
            </a:r>
          </a:p>
          <a:p>
            <a:pPr marL="0" indent="0">
              <a:buNone/>
            </a:pPr>
            <a:r>
              <a:rPr lang="en-US" dirty="0"/>
              <a:t>  39. </a:t>
            </a:r>
            <a:r>
              <a:rPr lang="en-US" b="1" dirty="0"/>
              <a:t>UNIVAC</a:t>
            </a:r>
            <a:r>
              <a:rPr lang="en-US" dirty="0"/>
              <a:t> - 1616</a:t>
            </a:r>
          </a:p>
          <a:p>
            <a:pPr marL="0" indent="0">
              <a:buNone/>
            </a:pPr>
            <a:r>
              <a:rPr lang="en-US" dirty="0"/>
              <a:t>  40. </a:t>
            </a:r>
            <a:r>
              <a:rPr lang="en-US" b="1" dirty="0"/>
              <a:t>Tymshare</a:t>
            </a:r>
            <a:r>
              <a:rPr lang="en-US" dirty="0"/>
              <a:t> - TIP</a:t>
            </a:r>
          </a:p>
          <a:p>
            <a:pPr marL="0" indent="0">
              <a:buNone/>
            </a:pPr>
            <a:r>
              <a:rPr lang="en-US" dirty="0"/>
              <a:t>  41. </a:t>
            </a:r>
            <a:r>
              <a:rPr lang="en-US" b="1" dirty="0"/>
              <a:t>DOCB</a:t>
            </a:r>
            <a:r>
              <a:rPr lang="en-US" dirty="0"/>
              <a:t> - TIP</a:t>
            </a:r>
          </a:p>
          <a:p>
            <a:pPr marL="0" indent="0">
              <a:buNone/>
            </a:pPr>
            <a:r>
              <a:rPr lang="en-US" dirty="0"/>
              <a:t>  42. </a:t>
            </a:r>
            <a:r>
              <a:rPr lang="en-US" b="1" dirty="0"/>
              <a:t>NORSAR</a:t>
            </a:r>
            <a:r>
              <a:rPr lang="en-US" dirty="0"/>
              <a:t> (Norway) - TIP</a:t>
            </a:r>
          </a:p>
          <a:p>
            <a:pPr marL="0" indent="0">
              <a:buNone/>
            </a:pPr>
            <a:r>
              <a:rPr lang="en-US" dirty="0"/>
              <a:t>  43. </a:t>
            </a:r>
            <a:r>
              <a:rPr lang="en-US" b="1" dirty="0"/>
              <a:t>UKICS</a:t>
            </a:r>
            <a:r>
              <a:rPr lang="en-US" dirty="0"/>
              <a:t> (University College London) - IBM 360/195, TIP</a:t>
            </a:r>
          </a:p>
          <a:p>
            <a:pPr marL="0" indent="0">
              <a:buNone/>
            </a:pPr>
            <a:r>
              <a:rPr lang="en-US" dirty="0"/>
              <a:t>  44. </a:t>
            </a:r>
            <a:r>
              <a:rPr lang="en-US" b="1" dirty="0"/>
              <a:t>University of Hawaii</a:t>
            </a:r>
            <a:r>
              <a:rPr lang="en-US" dirty="0"/>
              <a:t> (ALOHA) - HP 2100, BCC 500, TIP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A2DE8B-313A-8C36-F4DC-EC09F9C080AB}"/>
              </a:ext>
            </a:extLst>
          </p:cNvPr>
          <p:cNvSpPr txBox="1"/>
          <p:nvPr/>
        </p:nvSpPr>
        <p:spPr>
          <a:xfrm>
            <a:off x="990600" y="6349320"/>
            <a:ext cx="10798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TIP (Terminal Interface Processor) allowed direct terminal connections without a host computer</a:t>
            </a:r>
          </a:p>
        </p:txBody>
      </p:sp>
    </p:spTree>
    <p:extLst>
      <p:ext uri="{BB962C8B-B14F-4D97-AF65-F5344CB8AC3E}">
        <p14:creationId xmlns:p14="http://schemas.microsoft.com/office/powerpoint/2010/main" val="240164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42F99-5D8D-F509-F855-30945598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HOSTS.TXT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88EB-DDF7-6678-359A-0ABB715D3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ARPANET grew, name resolution became a challenge</a:t>
            </a:r>
          </a:p>
          <a:p>
            <a:pPr marL="0" indent="0">
              <a:buNone/>
            </a:pPr>
            <a:r>
              <a:rPr lang="en-US" dirty="0"/>
              <a:t>The solution (initial)</a:t>
            </a:r>
          </a:p>
          <a:p>
            <a:pPr lvl="1"/>
            <a:r>
              <a:rPr lang="en-US" dirty="0"/>
              <a:t>HOSTS.TXT file – mapped hostnames to IP addresses</a:t>
            </a:r>
          </a:p>
          <a:p>
            <a:pPr lvl="1"/>
            <a:r>
              <a:rPr lang="en-US" dirty="0"/>
              <a:t>Maintained centrally by SRI-NIC (Stanford Research Institute's Network Information Center)</a:t>
            </a:r>
          </a:p>
          <a:p>
            <a:pPr lvl="1"/>
            <a:r>
              <a:rPr lang="en-US" dirty="0"/>
              <a:t>Administrators emailed changes to NIC</a:t>
            </a:r>
          </a:p>
          <a:p>
            <a:pPr lvl="1"/>
            <a:r>
              <a:rPr lang="en-US" dirty="0"/>
              <a:t>Updated once or twice weekly</a:t>
            </a:r>
          </a:p>
          <a:p>
            <a:pPr lvl="1"/>
            <a:r>
              <a:rPr lang="en-US" dirty="0"/>
              <a:t>All hosts downloaded the file via FTP from SRI-NIC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will come back as a security issue . . 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446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8BB4-F277-C13F-501C-8FC2D83F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Growing Pains (late 1970s)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4D90-DD5D-488B-7B93-2BB516C08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size grew with each new host (40+ nodes = management nightmare)</a:t>
            </a:r>
          </a:p>
          <a:p>
            <a:r>
              <a:rPr lang="en-US" dirty="0"/>
              <a:t>Network traffic from updates overwhelming SRI-NIC</a:t>
            </a:r>
          </a:p>
          <a:p>
            <a:r>
              <a:rPr lang="en-US" dirty="0"/>
              <a:t>Single point of failure – if SRI-NIC down, name resolution stops</a:t>
            </a:r>
          </a:p>
          <a:p>
            <a:r>
              <a:rPr lang="en-US" dirty="0"/>
              <a:t>Updates only weekly – delays in adding new hosts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059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4813-99C0-DD47-FEB2-0760A5E9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Fix (1983)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FB500-F2F5-FE6B-2076-FF1E44244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DNS (Domain Name System) introduced</a:t>
            </a:r>
          </a:p>
          <a:p>
            <a:r>
              <a:rPr lang="en-US" dirty="0"/>
              <a:t>Decentralized, hierarchical solution</a:t>
            </a:r>
          </a:p>
          <a:p>
            <a:r>
              <a:rPr lang="en-US" dirty="0"/>
              <a:t>Dynamic query resolution instead of static file distribution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263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BE70-9AF3-5C81-DFED-B527A916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Area Networks (WANS) Solved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BDF9C-67C9-259D-3B8E-DA5D534E8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ARPANET’s success connected distant computer</a:t>
            </a:r>
          </a:p>
          <a:p>
            <a:r>
              <a:rPr lang="en-US" dirty="0"/>
              <a:t>Packet switching over long-distance telephone lines</a:t>
            </a:r>
          </a:p>
          <a:p>
            <a:r>
              <a:rPr lang="en-US" dirty="0"/>
              <a:t>Worked well for research institutions</a:t>
            </a:r>
          </a:p>
          <a:p>
            <a:r>
              <a:rPr lang="en-US" dirty="0"/>
              <a:t>Email!</a:t>
            </a:r>
          </a:p>
        </p:txBody>
      </p:sp>
    </p:spTree>
    <p:extLst>
      <p:ext uri="{BB962C8B-B14F-4D97-AF65-F5344CB8AC3E}">
        <p14:creationId xmlns:p14="http://schemas.microsoft.com/office/powerpoint/2010/main" val="3663874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32474-B9D7-A185-F2E5-7038A3D7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Area Networks (LANs) Unsolved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B3FD2-A98B-3A94-9AB5-F32006419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connect multiple computers in the same building or campus</a:t>
            </a:r>
          </a:p>
          <a:p>
            <a:r>
              <a:rPr lang="en-US" dirty="0"/>
              <a:t>Different requirements than long=distance network</a:t>
            </a:r>
          </a:p>
          <a:p>
            <a:r>
              <a:rPr lang="en-US" dirty="0"/>
              <a:t>Need: cost-effective way to share resources locally</a:t>
            </a:r>
          </a:p>
        </p:txBody>
      </p:sp>
    </p:spTree>
    <p:extLst>
      <p:ext uri="{BB962C8B-B14F-4D97-AF65-F5344CB8AC3E}">
        <p14:creationId xmlns:p14="http://schemas.microsoft.com/office/powerpoint/2010/main" val="4026208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A9D0-C05A-04AD-E466-1514D5B2A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 problem (it’s own history):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3E587-CE94-5603-C12D-32C773CC9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ARPANET’s IMP technology expensive for local use</a:t>
            </a:r>
          </a:p>
          <a:p>
            <a:r>
              <a:rPr lang="en-US" dirty="0"/>
              <a:t>Needed simpler, cheaper solution for connecting nearby computers</a:t>
            </a:r>
          </a:p>
          <a:p>
            <a:r>
              <a:rPr lang="en-US" dirty="0"/>
              <a:t>Businesses and universities wanted local networking</a:t>
            </a:r>
          </a:p>
        </p:txBody>
      </p:sp>
    </p:spTree>
    <p:extLst>
      <p:ext uri="{BB962C8B-B14F-4D97-AF65-F5344CB8AC3E}">
        <p14:creationId xmlns:p14="http://schemas.microsoft.com/office/powerpoint/2010/main" val="3242839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447AE-A073-55D4-84D0-ED213B8ED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ALOHAnet</a:t>
            </a:r>
            <a:r>
              <a:rPr lang="en-US" dirty="0"/>
              <a:t> (1971)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B8CB8-7567-A5F3-A59D-333C114E4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radio waves to connect computers across Hawaiian island</a:t>
            </a:r>
          </a:p>
          <a:p>
            <a:r>
              <a:rPr lang="en-US" dirty="0"/>
              <a:t>Random access protocol – devices transmit when they have data</a:t>
            </a:r>
          </a:p>
          <a:p>
            <a:pPr lvl="1"/>
            <a:r>
              <a:rPr lang="en-US" dirty="0"/>
              <a:t>If collision occurs, wait and retry</a:t>
            </a:r>
          </a:p>
          <a:p>
            <a:pPr lvl="1"/>
            <a:r>
              <a:rPr lang="en-US" dirty="0"/>
              <a:t>Inspired Ethernet's design</a:t>
            </a:r>
          </a:p>
        </p:txBody>
      </p:sp>
    </p:spTree>
    <p:extLst>
      <p:ext uri="{BB962C8B-B14F-4D97-AF65-F5344CB8AC3E}">
        <p14:creationId xmlns:p14="http://schemas.microsoft.com/office/powerpoint/2010/main" val="1836331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78B5-9B4C-ADF8-E5AB-BD6A5C4D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Xerox PARC (1973)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8CCC2-A9BB-BF3C-C558-52F28EF64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Palo Alto Research Center working on “Office of the future”</a:t>
            </a:r>
          </a:p>
          <a:p>
            <a:pPr lvl="1"/>
            <a:r>
              <a:rPr lang="en-US" dirty="0"/>
              <a:t>Vision: multiple computers, printers, servers sharing resources</a:t>
            </a:r>
          </a:p>
          <a:p>
            <a:pPr lvl="1"/>
            <a:r>
              <a:rPr lang="en-US" dirty="0"/>
              <a:t>Need: reliable local area networking technology</a:t>
            </a:r>
          </a:p>
          <a:p>
            <a:pPr lvl="1"/>
            <a:r>
              <a:rPr lang="en-US" dirty="0"/>
              <a:t>Robert Metcalfe assigned to solve this problem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Foundation set for Ethernet!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42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DF7D-68B7-3B0F-8EA5-02CD1E30C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70s: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0D953-E4DE-477E-5D95-68BE00E42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was working</a:t>
            </a:r>
          </a:p>
          <a:p>
            <a:pPr lvl="1"/>
            <a:r>
              <a:rPr lang="en-US" dirty="0"/>
              <a:t>Packet switching proven in ARPANET</a:t>
            </a:r>
          </a:p>
          <a:p>
            <a:pPr lvl="1"/>
            <a:r>
              <a:rPr lang="en-US" dirty="0"/>
              <a:t>Distributed routing demonstrated</a:t>
            </a:r>
          </a:p>
          <a:p>
            <a:pPr lvl="1"/>
            <a:r>
              <a:rPr lang="en-US" dirty="0"/>
              <a:t>Remote resource sharing enabled</a:t>
            </a:r>
          </a:p>
          <a:p>
            <a:pPr lvl="1"/>
            <a:r>
              <a:rPr lang="en-US" dirty="0"/>
              <a:t>Open protocols showing value</a:t>
            </a:r>
          </a:p>
          <a:p>
            <a:pPr marL="0" indent="0">
              <a:buNone/>
            </a:pPr>
            <a:r>
              <a:rPr lang="en-US" dirty="0"/>
              <a:t>What was missing</a:t>
            </a:r>
          </a:p>
          <a:p>
            <a:pPr lvl="1"/>
            <a:r>
              <a:rPr lang="en-US" dirty="0"/>
              <a:t>No standards for local area networks</a:t>
            </a:r>
          </a:p>
          <a:p>
            <a:pPr lvl="1"/>
            <a:r>
              <a:rPr lang="en-US" dirty="0"/>
              <a:t>No standardized way to interconnect different networks</a:t>
            </a:r>
          </a:p>
          <a:p>
            <a:pPr lvl="1"/>
            <a:r>
              <a:rPr lang="en-US" dirty="0"/>
              <a:t>Each organization developed custom solutions</a:t>
            </a:r>
          </a:p>
          <a:p>
            <a:pPr lvl="1"/>
            <a:r>
              <a:rPr lang="en-US" dirty="0"/>
              <a:t>Limited interoperability between system</a:t>
            </a:r>
          </a:p>
        </p:txBody>
      </p:sp>
    </p:spTree>
    <p:extLst>
      <p:ext uri="{BB962C8B-B14F-4D97-AF65-F5344CB8AC3E}">
        <p14:creationId xmlns:p14="http://schemas.microsoft.com/office/powerpoint/2010/main" val="1405022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F7F2-0D40-D972-8558-03B09C816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9676F-FB04-8060-79D8-9C0B8B3B3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Universal protocols that work across different network types</a:t>
            </a:r>
          </a:p>
          <a:p>
            <a:r>
              <a:rPr lang="en-US" dirty="0"/>
              <a:t>Standards for internetworking (connecting networks)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These two need drove innovations throughout the 1970s</a:t>
            </a:r>
          </a:p>
        </p:txBody>
      </p:sp>
    </p:spTree>
    <p:extLst>
      <p:ext uri="{BB962C8B-B14F-4D97-AF65-F5344CB8AC3E}">
        <p14:creationId xmlns:p14="http://schemas.microsoft.com/office/powerpoint/2010/main" val="535745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78B5-9B4C-ADF8-E5AB-BD6A5C4D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1970s: Development of Early Networking Protocols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8CCC2-A9BB-BF3C-C558-52F28EF64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1974</a:t>
            </a:r>
            <a:r>
              <a:rPr lang="en-US" dirty="0"/>
              <a:t>: </a:t>
            </a:r>
            <a:r>
              <a:rPr lang="en-US" dirty="0" err="1"/>
              <a:t>Vint</a:t>
            </a:r>
            <a:r>
              <a:rPr lang="en-US" dirty="0"/>
              <a:t> Cerf and Bob Kahn publish the first specification of the Transmission Control Protocol (TCP)</a:t>
            </a:r>
          </a:p>
          <a:p>
            <a:pPr lvl="1"/>
            <a:r>
              <a:rPr lang="en-US" b="1" dirty="0"/>
              <a:t>Network Agnosticism: </a:t>
            </a:r>
            <a:r>
              <a:rPr lang="en-US" dirty="0"/>
              <a:t>reliable inter-network communication (satellite, radio, wired)</a:t>
            </a:r>
          </a:p>
          <a:p>
            <a:pPr lvl="1"/>
            <a:r>
              <a:rPr lang="en-US" b="1" dirty="0"/>
              <a:t>Packet Switching: </a:t>
            </a:r>
            <a:r>
              <a:rPr lang="en-US" dirty="0"/>
              <a:t> small packets independently routed and reassembled</a:t>
            </a:r>
          </a:p>
          <a:p>
            <a:pPr lvl="1"/>
            <a:r>
              <a:rPr lang="en-US" b="1" dirty="0"/>
              <a:t>End-to-end Communication:  </a:t>
            </a:r>
            <a:r>
              <a:rPr lang="en-US" dirty="0"/>
              <a:t>receiving end acknowledged receipt of data on receiving end and mechanism for retransmission of lost packets</a:t>
            </a:r>
          </a:p>
          <a:p>
            <a:pPr lvl="1"/>
            <a:r>
              <a:rPr lang="en-US" b="1" dirty="0"/>
              <a:t>Layered Architecture:  </a:t>
            </a:r>
            <a:r>
              <a:rPr lang="en-US" dirty="0"/>
              <a:t>Separation of data transmission (TCP) from addressing and routing (IP)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621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78B5-9B4C-ADF8-E5AB-BD6A5C4D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1970s: Development of Early Networking Protocols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8CCC2-A9BB-BF3C-C558-52F28EF64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1976</a:t>
            </a:r>
            <a:r>
              <a:rPr lang="en-US" dirty="0"/>
              <a:t>: IBM introduces Systems Network Architecture (SNA), </a:t>
            </a:r>
          </a:p>
          <a:p>
            <a:pPr lvl="1"/>
            <a:r>
              <a:rPr lang="en-US" dirty="0"/>
              <a:t> proprietary networking protocol for connecting IBM mainframe computers.</a:t>
            </a:r>
          </a:p>
          <a:p>
            <a:pPr lvl="1"/>
            <a:r>
              <a:rPr lang="en-US" dirty="0"/>
              <a:t>Used 7-layer architecture (similar to, but not the same as OSI model)</a:t>
            </a:r>
          </a:p>
          <a:p>
            <a:pPr lvl="1"/>
            <a:r>
              <a:rPr lang="en-US" dirty="0"/>
              <a:t>Logical Unit (LUs): endpoints representing devices/applications communicating with each other</a:t>
            </a:r>
          </a:p>
          <a:p>
            <a:pPr lvl="1"/>
            <a:r>
              <a:rPr lang="en-US" dirty="0"/>
              <a:t>Physical Units (PUs):  control points managing communication between network parts</a:t>
            </a:r>
          </a:p>
          <a:p>
            <a:pPr lvl="1"/>
            <a:r>
              <a:rPr lang="en-US" dirty="0"/>
              <a:t>Transmission Control Units (TCU): Data flow management (</a:t>
            </a:r>
            <a:r>
              <a:rPr lang="en-US" dirty="0" err="1"/>
              <a:t>incuding</a:t>
            </a:r>
            <a:r>
              <a:rPr lang="en-US" dirty="0"/>
              <a:t> error checking and data sequencing) </a:t>
            </a:r>
          </a:p>
          <a:p>
            <a:pPr lvl="1"/>
            <a:r>
              <a:rPr lang="en-US" dirty="0"/>
              <a:t>Influenced design of future protocols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706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78B5-9B4C-ADF8-E5AB-BD6A5C4D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1970s: Development of Early Networking Protocols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8CCC2-A9BB-BF3C-C558-52F28EF64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1978</a:t>
            </a:r>
            <a:r>
              <a:rPr lang="en-US" dirty="0"/>
              <a:t>: TCP is split into TCP and IP (Internet Protocol)</a:t>
            </a:r>
          </a:p>
          <a:p>
            <a:pPr lvl="1"/>
            <a:r>
              <a:rPr lang="en-US" b="1" dirty="0"/>
              <a:t>Scalability:</a:t>
            </a:r>
            <a:r>
              <a:rPr lang="en-US" dirty="0"/>
              <a:t> Handling both transmission control and routing withing single protocol very complex (became issue with increasing number of connected networks and devices</a:t>
            </a:r>
          </a:p>
          <a:p>
            <a:pPr lvl="1"/>
            <a:r>
              <a:rPr lang="en-US" b="1" dirty="0"/>
              <a:t>Modularity and Flexibility: </a:t>
            </a:r>
            <a:r>
              <a:rPr lang="en-US" dirty="0"/>
              <a:t>different aspects of communication handled by different protocols </a:t>
            </a:r>
          </a:p>
          <a:p>
            <a:pPr lvl="1"/>
            <a:r>
              <a:rPr lang="en-US" b="1" dirty="0"/>
              <a:t>Network Agnosticism: </a:t>
            </a:r>
            <a:r>
              <a:rPr lang="en-US" dirty="0"/>
              <a:t>Separating responsibilities, transmission control(TCP) could focus on reliable delivery,  and IP could focus on routing.</a:t>
            </a:r>
          </a:p>
        </p:txBody>
      </p:sp>
    </p:spTree>
    <p:extLst>
      <p:ext uri="{BB962C8B-B14F-4D97-AF65-F5344CB8AC3E}">
        <p14:creationId xmlns:p14="http://schemas.microsoft.com/office/powerpoint/2010/main" val="2161591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F2BF-7E68-8769-AE4D-66ECD0D40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 Protocol Wars  (1980s –  1990s)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17408-3C4E-DFBE-31D7-DD0DEEDA9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Multiple competing solutions for Local Area Networks</a:t>
            </a:r>
          </a:p>
        </p:txBody>
      </p:sp>
    </p:spTree>
    <p:extLst>
      <p:ext uri="{BB962C8B-B14F-4D97-AF65-F5344CB8AC3E}">
        <p14:creationId xmlns:p14="http://schemas.microsoft.com/office/powerpoint/2010/main" val="1301476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D7E43-BB19-59D5-AE94-0BD3A1991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Novell NetWare (1983)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09280-D02B-7E27-1389-B2F0DCBC9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IPX/SPX Internetwork Packet Exchange / Sequenced Packet Exchange</a:t>
            </a:r>
          </a:p>
          <a:p>
            <a:r>
              <a:rPr lang="en-US" dirty="0"/>
              <a:t>Dominated market late 198s – early 1990s</a:t>
            </a:r>
          </a:p>
          <a:p>
            <a:r>
              <a:rPr lang="en-US" dirty="0"/>
              <a:t>Designed for LANS</a:t>
            </a:r>
          </a:p>
          <a:p>
            <a:r>
              <a:rPr lang="en-US" dirty="0"/>
              <a:t>Easy configuration – no manual IP address setup</a:t>
            </a:r>
          </a:p>
          <a:p>
            <a:r>
              <a:rPr lang="en-US" dirty="0"/>
              <a:t>Small memory footprint (critical for DOS / early Windows)</a:t>
            </a:r>
          </a:p>
          <a:p>
            <a:r>
              <a:rPr lang="en-US" dirty="0"/>
              <a:t>Fast and efficient for LANs</a:t>
            </a:r>
          </a:p>
        </p:txBody>
      </p:sp>
    </p:spTree>
    <p:extLst>
      <p:ext uri="{BB962C8B-B14F-4D97-AF65-F5344CB8AC3E}">
        <p14:creationId xmlns:p14="http://schemas.microsoft.com/office/powerpoint/2010/main" val="3396309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D0CE-D478-CB1D-E779-3AA61537F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Microsoft’s Answer: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21F95-4325-5175-8BB7-CB480486F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NetBIOS (Network Basic Input/Output System) – IBM/Sytek, 1983</a:t>
            </a:r>
          </a:p>
          <a:p>
            <a:r>
              <a:rPr lang="en-US" dirty="0"/>
              <a:t>NetBEUI (NetBIOS Extended User Interface) – IBM/Microsoft, 1985</a:t>
            </a:r>
          </a:p>
          <a:p>
            <a:r>
              <a:rPr lang="en-US" dirty="0"/>
              <a:t>Simple protocol for small networks (up to 200 stations)</a:t>
            </a:r>
          </a:p>
          <a:p>
            <a:r>
              <a:rPr lang="en-US" dirty="0"/>
              <a:t>No routing capability – broadcast domain only</a:t>
            </a:r>
          </a:p>
          <a:p>
            <a:r>
              <a:rPr lang="en-US" dirty="0"/>
              <a:t>Used in early Microsoft networking (MS-Net, LAN Manager)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802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C2445-4174-0A01-31F4-57A68931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0F2E1-95BD-4915-8D59-195975C27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proprietary or limited-scope solutions</a:t>
            </a:r>
          </a:p>
          <a:p>
            <a:r>
              <a:rPr lang="en-US" dirty="0"/>
              <a:t>IPX/SPX couldn't scale to Internet</a:t>
            </a:r>
          </a:p>
          <a:p>
            <a:r>
              <a:rPr lang="en-US" dirty="0"/>
              <a:t>NetBEUI not routable beyond local network</a:t>
            </a:r>
          </a:p>
          <a:p>
            <a:r>
              <a:rPr lang="en-US" dirty="0"/>
              <a:t>Multiple protocols = complexity and incompatibility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941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EC17-5651-A5D5-78E5-0ACAD678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Landscape (late 1980s early 1990s)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1CE64-8238-4BE3-3CFF-14AB5A063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Limitations of Alternatives:</a:t>
            </a:r>
            <a:endParaRPr lang="en-US" dirty="0"/>
          </a:p>
          <a:p>
            <a:pPr lvl="1"/>
            <a:r>
              <a:rPr lang="en-US" b="1" dirty="0"/>
              <a:t>IPX/SPX: </a:t>
            </a:r>
            <a:r>
              <a:rPr lang="en-US" dirty="0"/>
              <a:t> Excellent for LANs, but didn't scale to Internet</a:t>
            </a:r>
          </a:p>
          <a:p>
            <a:pPr lvl="1"/>
            <a:r>
              <a:rPr lang="en-US" b="1" dirty="0"/>
              <a:t>NetBEUI:</a:t>
            </a:r>
            <a:r>
              <a:rPr lang="en-US" dirty="0"/>
              <a:t> Fast and simple, but </a:t>
            </a:r>
            <a:r>
              <a:rPr lang="en-US" dirty="0" err="1"/>
              <a:t>unroutable</a:t>
            </a:r>
            <a:r>
              <a:rPr lang="en-US" dirty="0"/>
              <a:t> (local only)</a:t>
            </a:r>
          </a:p>
          <a:p>
            <a:pPr lvl="1"/>
            <a:r>
              <a:rPr lang="en-US" b="1" dirty="0"/>
              <a:t>AppleTalk:</a:t>
            </a:r>
            <a:r>
              <a:rPr lang="en-US" dirty="0"/>
              <a:t> Apple-specific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- Each required separate network stacks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6655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AAA30-4C53-688F-9AEA-63137DF5B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275F7-CFA6-F027-F963-413107FA4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Universal standard (not vendor-specific)</a:t>
            </a:r>
          </a:p>
          <a:p>
            <a:r>
              <a:rPr lang="en-US" dirty="0"/>
              <a:t>Routable across networks of any size</a:t>
            </a:r>
          </a:p>
          <a:p>
            <a:r>
              <a:rPr lang="en-US" dirty="0"/>
              <a:t>Already proven on Internet/ARPANET</a:t>
            </a:r>
          </a:p>
          <a:p>
            <a:r>
              <a:rPr lang="en-US" dirty="0"/>
              <a:t>Scalable from LAN to WAN to Internet</a:t>
            </a:r>
          </a:p>
          <a:p>
            <a:r>
              <a:rPr lang="en-US" dirty="0"/>
              <a:t>Free and open specifications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8692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1A9CA-D0AA-646F-7BAE-21DEB91C6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21189" cy="1325563"/>
          </a:xfrm>
        </p:spPr>
        <p:txBody>
          <a:bodyPr/>
          <a:lstStyle/>
          <a:p>
            <a:r>
              <a:rPr lang="en-US" dirty="0"/>
              <a:t>The Network Security Challenge (1980s – 1990s)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AAC90-8DED-513F-95EF-8C357B906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LANs grew, problems emerged: </a:t>
            </a:r>
          </a:p>
          <a:p>
            <a:pPr lvl="1"/>
            <a:r>
              <a:rPr lang="en-US" dirty="0"/>
              <a:t>Multiple users accessing shared resources</a:t>
            </a:r>
          </a:p>
          <a:p>
            <a:pPr lvl="1"/>
            <a:r>
              <a:rPr lang="en-US" dirty="0"/>
              <a:t>Who should access what?</a:t>
            </a:r>
          </a:p>
          <a:p>
            <a:pPr lvl="1"/>
            <a:r>
              <a:rPr lang="en-US" dirty="0"/>
              <a:t>How to prevent unauthorized access?</a:t>
            </a:r>
          </a:p>
          <a:p>
            <a:pPr lvl="1"/>
            <a:r>
              <a:rPr lang="en-US" dirty="0"/>
              <a:t>How to track who accessed what?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So, now security is an issue . . 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413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69119-A88A-DCE1-7931-1332826B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Security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C25FB-D459-88DC-BCE3-CDEA37FC1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Authentication (Who are you?)</a:t>
            </a:r>
          </a:p>
          <a:p>
            <a:r>
              <a:rPr lang="en-US" dirty="0"/>
              <a:t>Authorization (What are you allowed to do?)</a:t>
            </a:r>
          </a:p>
          <a:p>
            <a:r>
              <a:rPr lang="en-US" dirty="0"/>
              <a:t>Access Control (How do we enforce permissions?)</a:t>
            </a:r>
          </a:p>
          <a:p>
            <a:r>
              <a:rPr lang="en-US" dirty="0"/>
              <a:t>Auditing (How do we track access?) </a:t>
            </a:r>
          </a:p>
        </p:txBody>
      </p:sp>
    </p:spTree>
    <p:extLst>
      <p:ext uri="{BB962C8B-B14F-4D97-AF65-F5344CB8AC3E}">
        <p14:creationId xmlns:p14="http://schemas.microsoft.com/office/powerpoint/2010/main" val="1021388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FED4B-6520-66D9-693C-BC99DD35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69A68-7653-AF4D-5176-9252169B7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passwords</a:t>
            </a:r>
          </a:p>
          <a:p>
            <a:r>
              <a:rPr lang="en-US" dirty="0"/>
              <a:t>File-level permissions</a:t>
            </a:r>
          </a:p>
          <a:p>
            <a:r>
              <a:rPr lang="en-US" dirty="0"/>
              <a:t>No centralized management</a:t>
            </a:r>
          </a:p>
          <a:p>
            <a:r>
              <a:rPr lang="en-US" dirty="0"/>
              <a:t>Each server maintained its own user database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38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2FC5-EB5E-16BC-9994-720A78233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Novell NetWare Directory Services (NDS) 1993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F2284-43D6-3227-1D6D-B2B3047AA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sign-on – On login for entire network</a:t>
            </a:r>
          </a:p>
          <a:p>
            <a:r>
              <a:rPr lang="en-US" dirty="0"/>
              <a:t>Hierarchical directory: Tree structure (Organization, departments, Users)</a:t>
            </a:r>
          </a:p>
          <a:p>
            <a:r>
              <a:rPr lang="en-US" dirty="0"/>
              <a:t>Central management: All users, permissions in one place</a:t>
            </a:r>
          </a:p>
          <a:p>
            <a:r>
              <a:rPr lang="en-US" dirty="0"/>
              <a:t>Fine-grained access control:  Control access at file/folder level</a:t>
            </a:r>
          </a:p>
          <a:p>
            <a:r>
              <a:rPr lang="en-US" dirty="0"/>
              <a:t>Public-key authentication:  RSA encryption (since 1994)</a:t>
            </a:r>
          </a:p>
        </p:txBody>
      </p:sp>
    </p:spTree>
    <p:extLst>
      <p:ext uri="{BB962C8B-B14F-4D97-AF65-F5344CB8AC3E}">
        <p14:creationId xmlns:p14="http://schemas.microsoft.com/office/powerpoint/2010/main" val="7934308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6466-F276-06CB-233B-A8CAA173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NDS Solved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C13C1-616C-248A-38A0-683EBE71E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Eliminated multiple passwords for multiple servers</a:t>
            </a:r>
          </a:p>
          <a:p>
            <a:r>
              <a:rPr lang="en-US" dirty="0"/>
              <a:t>Centralized security management</a:t>
            </a:r>
          </a:p>
          <a:p>
            <a:r>
              <a:rPr lang="en-US" dirty="0"/>
              <a:t>Scalable to large organizations</a:t>
            </a:r>
          </a:p>
          <a:p>
            <a:r>
              <a:rPr lang="en-US" dirty="0"/>
              <a:t>Based on X.500 directory standard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2181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6D8FC-A852-83D0-3A06-038E7636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E2E37-22F8-F7DA-7246-C1A5A7C62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the standard for network directory services</a:t>
            </a:r>
          </a:p>
          <a:p>
            <a:r>
              <a:rPr lang="en-US" dirty="0"/>
              <a:t>Showed the value of centralized identity management</a:t>
            </a:r>
          </a:p>
          <a:p>
            <a:r>
              <a:rPr lang="en-US" dirty="0"/>
              <a:t>Influenced future directory services (including Active Directory)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8037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3594-3D4B-F7D6-9EEB-0A68F897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Microsoft’s Active Directory (AD)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F0BBE-249F-AD1E-99C0-9DF48B696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 NT domain model (enhanced)</a:t>
            </a:r>
          </a:p>
          <a:p>
            <a:r>
              <a:rPr lang="en-US" dirty="0"/>
              <a:t>DNS integration (not proprietary like NDS initially)</a:t>
            </a:r>
          </a:p>
          <a:p>
            <a:r>
              <a:rPr lang="en-US" dirty="0"/>
              <a:t>LDAP (Lightweight Directory Access Protocol) standard</a:t>
            </a:r>
          </a:p>
          <a:p>
            <a:r>
              <a:rPr lang="en-US" dirty="0"/>
              <a:t>Kerberos authentication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7217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C80AD-18A3-4193-BB7A-BE63A2A00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AD Succeeded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3F7-E4E0-B087-7A97-9C915F67D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Integrated with Windows operating system</a:t>
            </a:r>
          </a:p>
          <a:p>
            <a:r>
              <a:rPr lang="en-US" dirty="0"/>
              <a:t>Leveraged existing DNS infrastructure</a:t>
            </a:r>
          </a:p>
          <a:p>
            <a:r>
              <a:rPr lang="en-US" dirty="0"/>
              <a:t>Microsoft's market dominance in business computing</a:t>
            </a:r>
          </a:p>
          <a:p>
            <a:r>
              <a:rPr lang="en-US" dirty="0"/>
              <a:t>Easier migration from NT domains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962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37EC-F749-59F0-6F14-310780E49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Network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1C778-9449-F17F-C2E3-A47762467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1970s ARPANET:  </a:t>
            </a:r>
          </a:p>
          <a:p>
            <a:pPr lvl="1"/>
            <a:r>
              <a:rPr lang="en-US" dirty="0"/>
              <a:t>Trust-based, small community, minimal security concerns</a:t>
            </a:r>
          </a:p>
          <a:p>
            <a:pPr marL="0" indent="0">
              <a:buNone/>
            </a:pPr>
            <a:r>
              <a:rPr lang="en-US" dirty="0"/>
              <a:t>1980s Early LANS:</a:t>
            </a:r>
          </a:p>
          <a:p>
            <a:pPr lvl="1"/>
            <a:r>
              <a:rPr lang="en-US" dirty="0"/>
              <a:t>Simple passwords, server-based security, limited access controls</a:t>
            </a:r>
          </a:p>
          <a:p>
            <a:pPr marL="0" indent="0">
              <a:buNone/>
            </a:pPr>
            <a:r>
              <a:rPr lang="en-US" dirty="0"/>
              <a:t>1990s Directory Services:</a:t>
            </a:r>
          </a:p>
          <a:p>
            <a:pPr lvl="1"/>
            <a:r>
              <a:rPr lang="en-US" dirty="0"/>
              <a:t>Centralized authentication (NDS, AD), single sign-on, role-based access control, public-key cryptography</a:t>
            </a:r>
          </a:p>
          <a:p>
            <a:pPr marL="0" indent="0">
              <a:buNone/>
            </a:pPr>
            <a:r>
              <a:rPr lang="en-US" dirty="0"/>
              <a:t>2000 – Present:  MFA, cloud-based identify services, Advanced threat detection</a:t>
            </a:r>
          </a:p>
        </p:txBody>
      </p:sp>
    </p:spTree>
    <p:extLst>
      <p:ext uri="{BB962C8B-B14F-4D97-AF65-F5344CB8AC3E}">
        <p14:creationId xmlns:p14="http://schemas.microsoft.com/office/powerpoint/2010/main" val="21075027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6344-E9A4-52F6-2A46-F7AF80FB2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979" y="1857594"/>
            <a:ext cx="10515600" cy="1325563"/>
          </a:xfrm>
        </p:spPr>
        <p:txBody>
          <a:bodyPr/>
          <a:lstStyle/>
          <a:p>
            <a:r>
              <a:rPr lang="en-US" dirty="0"/>
              <a:t>Overview: Open Systems Interface (OSI)</a:t>
            </a:r>
          </a:p>
        </p:txBody>
      </p:sp>
    </p:spTree>
    <p:extLst>
      <p:ext uri="{BB962C8B-B14F-4D97-AF65-F5344CB8AC3E}">
        <p14:creationId xmlns:p14="http://schemas.microsoft.com/office/powerpoint/2010/main" val="10327632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AB0B-5E24-FF79-03F2-857E3EA4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Standardized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8E93-BD7C-7CAD-C466-A999FEEBA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 Hoc and Custom Networks:</a:t>
            </a:r>
          </a:p>
          <a:p>
            <a:pPr lvl="1"/>
            <a:r>
              <a:rPr lang="en-US" b="1" dirty="0"/>
              <a:t>Custom implementations:  </a:t>
            </a:r>
            <a:r>
              <a:rPr lang="en-US" dirty="0"/>
              <a:t>Each company developed their own solutions (built from ground up)</a:t>
            </a:r>
          </a:p>
          <a:p>
            <a:pPr lvl="1"/>
            <a:r>
              <a:rPr lang="en-US" b="1" dirty="0"/>
              <a:t>Limited interconnectivity: </a:t>
            </a:r>
            <a:r>
              <a:rPr lang="en-US" dirty="0"/>
              <a:t>Custom nature meant isolation and limited interconnectivity across organizations or regions. </a:t>
            </a:r>
          </a:p>
        </p:txBody>
      </p:sp>
    </p:spTree>
    <p:extLst>
      <p:ext uri="{BB962C8B-B14F-4D97-AF65-F5344CB8AC3E}">
        <p14:creationId xmlns:p14="http://schemas.microsoft.com/office/powerpoint/2010/main" val="15706035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AB0B-5E24-FF79-03F2-857E3EA4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Proprietary Protocols and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8E93-BD7C-7CAD-C466-A999FEEBA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Vendor-Specific Solutions:</a:t>
            </a:r>
          </a:p>
          <a:p>
            <a:pPr lvl="1"/>
            <a:r>
              <a:rPr lang="en-US" dirty="0"/>
              <a:t>IBM:   Systems Network Architecture used for connecting IBM mainframes</a:t>
            </a:r>
          </a:p>
          <a:p>
            <a:pPr lvl="1"/>
            <a:r>
              <a:rPr lang="en-US" dirty="0"/>
              <a:t>DEC: </a:t>
            </a:r>
            <a:r>
              <a:rPr lang="en-US" dirty="0" err="1"/>
              <a:t>Decnet</a:t>
            </a:r>
            <a:r>
              <a:rPr lang="en-US" dirty="0"/>
              <a:t> for connecting peer-to-peer network</a:t>
            </a:r>
          </a:p>
          <a:p>
            <a:pPr lvl="1"/>
            <a:r>
              <a:rPr lang="en-US" dirty="0"/>
              <a:t>Xerox:  Xerox Network System (XNS) for LANs and WANS</a:t>
            </a:r>
          </a:p>
          <a:p>
            <a:pPr marL="0" indent="0">
              <a:buNone/>
            </a:pPr>
            <a:r>
              <a:rPr lang="en-US" dirty="0"/>
              <a:t>Incompatible:</a:t>
            </a:r>
          </a:p>
          <a:p>
            <a:pPr lvl="1"/>
            <a:r>
              <a:rPr lang="en-US" dirty="0"/>
              <a:t>Difficult or impossible for different systems to communicate with each other</a:t>
            </a:r>
          </a:p>
          <a:p>
            <a:pPr lvl="1"/>
            <a:r>
              <a:rPr lang="en-US" dirty="0"/>
              <a:t>Lack of standardization led to fragmented network environment. </a:t>
            </a:r>
          </a:p>
        </p:txBody>
      </p:sp>
    </p:spTree>
    <p:extLst>
      <p:ext uri="{BB962C8B-B14F-4D97-AF65-F5344CB8AC3E}">
        <p14:creationId xmlns:p14="http://schemas.microsoft.com/office/powerpoint/2010/main" val="19687082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E934-DBB7-C920-3A2F-31137D73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1980s: Standardization and Emergence of Networking Models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9BCBA-62DB-3B4B-5742-E22EEDAA9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1980</a:t>
            </a:r>
            <a:r>
              <a:rPr lang="en-US" dirty="0"/>
              <a:t>: The International Organization for Standardization (ISO) begins developing the OSI model</a:t>
            </a:r>
          </a:p>
          <a:p>
            <a:pPr lvl="1"/>
            <a:r>
              <a:rPr lang="en-US" b="1" dirty="0"/>
              <a:t>Goal: </a:t>
            </a:r>
            <a:r>
              <a:rPr lang="en-US" dirty="0"/>
              <a:t>create a universal networking framework.</a:t>
            </a:r>
          </a:p>
          <a:p>
            <a:pPr lvl="1"/>
            <a:r>
              <a:rPr lang="en-US" b="1" dirty="0"/>
              <a:t>OSI Model: </a:t>
            </a:r>
            <a:r>
              <a:rPr lang="en-US" dirty="0"/>
              <a:t>A conceptual framework used to understand and implement network communication between systems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953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E934-DBB7-C920-3A2F-31137D73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1980s: Standardization and Emergence of Networking Models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9BCBA-62DB-3B4B-5742-E22EEDAA9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1983</a:t>
            </a:r>
            <a:r>
              <a:rPr lang="en-US" dirty="0"/>
              <a:t>: ARPANET formally adopts TCP/IP as its standard networking protocol, marking the beginning of the modern Internet.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9045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E934-DBB7-C920-3A2F-31137D73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1980s: Standardization and Emergence of Networking Models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9BCBA-62DB-3B4B-5742-E22EEDAA9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1984</a:t>
            </a:r>
            <a:r>
              <a:rPr lang="en-US" dirty="0"/>
              <a:t>: The OSI model is published by ISO</a:t>
            </a:r>
          </a:p>
          <a:p>
            <a:pPr lvl="1"/>
            <a:r>
              <a:rPr lang="en-US" dirty="0"/>
              <a:t> A seven-layer framework for networking. (theoretical model)</a:t>
            </a:r>
          </a:p>
          <a:p>
            <a:pPr lvl="1"/>
            <a:r>
              <a:rPr lang="en-US" dirty="0"/>
              <a:t>useful for understanding how components and applications fit networking model</a:t>
            </a:r>
          </a:p>
          <a:p>
            <a:pPr lvl="1"/>
            <a:r>
              <a:rPr lang="en-US" dirty="0"/>
              <a:t>Becomes a key educational tool.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4407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85B6-4EC0-0358-EA88-40C54413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50931" cy="2672365"/>
          </a:xfrm>
        </p:spPr>
        <p:txBody>
          <a:bodyPr/>
          <a:lstStyle/>
          <a:p>
            <a:r>
              <a:rPr lang="en-US" dirty="0"/>
              <a:t>OSI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132FF2-496C-63FB-6D0B-717E6CF3A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5828793"/>
              </p:ext>
            </p:extLst>
          </p:nvPr>
        </p:nvGraphicFramePr>
        <p:xfrm>
          <a:off x="3846786" y="182880"/>
          <a:ext cx="4762505" cy="567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100">
                  <a:extLst>
                    <a:ext uri="{9D8B030D-6E8A-4147-A177-3AD203B41FA5}">
                      <a16:colId xmlns:a16="http://schemas.microsoft.com/office/drawing/2014/main" val="1425508913"/>
                    </a:ext>
                  </a:extLst>
                </a:gridCol>
                <a:gridCol w="2258405">
                  <a:extLst>
                    <a:ext uri="{9D8B030D-6E8A-4147-A177-3AD203B41FA5}">
                      <a16:colId xmlns:a16="http://schemas.microsoft.com/office/drawing/2014/main" val="528246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612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 users to access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995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Translates, encrypts, compresses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660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Create, terminate, and manages sessions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95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Manages delivery and error checking of packets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623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Identify shortest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6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Data Link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packed into frames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70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Physical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Forms a physical medium for 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809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0232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5555-E172-1020-798F-691A76CB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(Layer 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A7843-44B5-C7E3-A74C-BFFE191EA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Closest to the end-user and interacts with software applications to implement networking functions like email, file transfer, and web browsing.</a:t>
            </a:r>
          </a:p>
          <a:p>
            <a:pPr lvl="1"/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Proxies</a:t>
            </a:r>
            <a:r>
              <a:rPr lang="en-US" dirty="0"/>
              <a:t>: Can operate at Layer 7 by making content decisions.</a:t>
            </a:r>
          </a:p>
          <a:p>
            <a:pPr lvl="2"/>
            <a:r>
              <a:rPr lang="en-US" b="1" dirty="0"/>
              <a:t>Layer 7 Switches</a:t>
            </a:r>
            <a:r>
              <a:rPr lang="en-US" dirty="0"/>
              <a:t>: Also known as application-aware switches, they can make decisions based on application data.</a:t>
            </a:r>
          </a:p>
          <a:p>
            <a:pPr lvl="2"/>
            <a:r>
              <a:rPr lang="en-US" b="1" dirty="0"/>
              <a:t>Firewalls</a:t>
            </a:r>
            <a:r>
              <a:rPr lang="en-US" dirty="0"/>
              <a:t>: Advanced firewalls can operate at this layer, filtering traffic based on application content.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9498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170C0-0ABD-4988-009F-BCD931A5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Layer (Layer 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A8B69-E672-92A5-0EFA-18F69B5E8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The Presentation layer translates data between the application layer and the network format, handling data encryption, compression, and translation.</a:t>
            </a:r>
          </a:p>
          <a:p>
            <a:pPr marL="0" indent="0">
              <a:buNone/>
            </a:pPr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Encryption Devices</a:t>
            </a:r>
            <a:r>
              <a:rPr lang="en-US" dirty="0"/>
              <a:t>: Hardware that provides data encryption/decryption.</a:t>
            </a:r>
          </a:p>
          <a:p>
            <a:pPr lvl="1"/>
            <a:r>
              <a:rPr lang="en-US" b="1" dirty="0"/>
              <a:t>Some Gateways</a:t>
            </a:r>
            <a:r>
              <a:rPr lang="en-US" dirty="0"/>
              <a:t>: If involved in protocol conversion or data translation.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9667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5ADB-053B-0FBF-A715-10CE222D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Layer (Layer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B5361-BFB6-9006-18B2-0E8504434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The Session layer manages sessions between applications, including establishing, maintaining, and terminating connections.</a:t>
            </a:r>
          </a:p>
          <a:p>
            <a:pPr marL="0" indent="0">
              <a:buNone/>
            </a:pPr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Application Gateways</a:t>
            </a:r>
            <a:r>
              <a:rPr lang="en-US" dirty="0"/>
              <a:t>: Some devices that handle complex interactions between different systems may operate at this layer.  Note: most session management is handled by software.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2711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92648-BA46-42D0-7D4D-27C7CE0AE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(Layer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C5EA0-3DF2-4F09-1C72-8A039ED96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The Transport layer is responsible for end-to-end communication, data flow control, error recovery, and segmentation. It ensures that data is transferred reliably and in the correct order.</a:t>
            </a:r>
          </a:p>
          <a:p>
            <a:pPr marL="0" indent="0">
              <a:buNone/>
            </a:pPr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Gateways</a:t>
            </a:r>
            <a:r>
              <a:rPr lang="en-US" dirty="0"/>
              <a:t>: Devices that connect networks using different protocols (though they can operate across multiple layers).</a:t>
            </a:r>
          </a:p>
          <a:p>
            <a:pPr lvl="1"/>
            <a:r>
              <a:rPr lang="en-US" b="1" dirty="0"/>
              <a:t>Load Balancers</a:t>
            </a:r>
            <a:r>
              <a:rPr lang="en-US" dirty="0"/>
              <a:t>: Often work at Layer 4 by distributing incoming traffic based on transport layer information like TCP/UDP 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8816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C052-3CBF-5E16-CE01-CC58A49D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 (Layer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CCE65-25A5-3E5B-2547-DEB76769A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The Network layer is responsible for routing packets across network boundaries, logical addressing, and path determination.</a:t>
            </a:r>
          </a:p>
          <a:p>
            <a:pPr marL="0" indent="0">
              <a:buNone/>
            </a:pPr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Routers</a:t>
            </a:r>
            <a:r>
              <a:rPr lang="en-US" dirty="0"/>
              <a:t>: Direct data packets between different networks based on IP addresses.</a:t>
            </a:r>
          </a:p>
          <a:p>
            <a:pPr lvl="1"/>
            <a:r>
              <a:rPr lang="en-US" b="1" dirty="0"/>
              <a:t>Layer 3 Switches</a:t>
            </a:r>
            <a:r>
              <a:rPr lang="en-US" dirty="0"/>
              <a:t>: Switches that perform routing functions.</a:t>
            </a:r>
          </a:p>
          <a:p>
            <a:pPr lvl="1"/>
            <a:r>
              <a:rPr lang="en-US" b="1" dirty="0"/>
              <a:t>Firewalls</a:t>
            </a:r>
            <a:r>
              <a:rPr lang="en-US" dirty="0"/>
              <a:t>: Some firewalls also operate at this layer to filter traffic based on IP addresses.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6562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DEFB-D28F-3A19-A049-B982D5F5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 (Layer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2668-A65C-C91E-54E5-7134FF01A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The Data Link layer is responsible for node-to-node data transfer and error detection and correction in frames. It also controls how data is placed on the medium.</a:t>
            </a:r>
          </a:p>
          <a:p>
            <a:pPr marL="0" indent="0">
              <a:buNone/>
            </a:pPr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Switches</a:t>
            </a:r>
            <a:r>
              <a:rPr lang="en-US" dirty="0"/>
              <a:t>: Operate at Layer 2 by forwarding frames based on MAC addresses.</a:t>
            </a:r>
          </a:p>
          <a:p>
            <a:pPr lvl="1"/>
            <a:r>
              <a:rPr lang="en-US" b="1" dirty="0"/>
              <a:t>Bridges</a:t>
            </a:r>
            <a:endParaRPr lang="en-US" dirty="0"/>
          </a:p>
          <a:p>
            <a:pPr lvl="1"/>
            <a:r>
              <a:rPr lang="en-US" b="1" dirty="0"/>
              <a:t>Network Interface Cards (NICs)</a:t>
            </a:r>
            <a:r>
              <a:rPr lang="en-US" dirty="0"/>
              <a:t>: Fully operates at this layer for handling MAC addresses and framing.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114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71528-0FF2-565A-07A4-9CD335497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Layer (Layer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FD44F-F406-BCEA-45ED-6ADEE4FA1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The Physical layer is responsible for the physical connection between devices. It handles the transmission and reception of raw bitstreams over a physical medium (e.g., cables, radio frequencies).</a:t>
            </a:r>
          </a:p>
          <a:p>
            <a:pPr marL="0" indent="0">
              <a:buNone/>
            </a:pPr>
            <a:r>
              <a:rPr lang="en-US" b="1" dirty="0"/>
              <a:t>Network Hardware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Cables</a:t>
            </a:r>
            <a:r>
              <a:rPr lang="en-US" dirty="0"/>
              <a:t> (Ethernet cables, fiber optics)</a:t>
            </a:r>
          </a:p>
          <a:p>
            <a:pPr lvl="1"/>
            <a:r>
              <a:rPr lang="en-US" b="1" dirty="0"/>
              <a:t>Connectors</a:t>
            </a:r>
            <a:endParaRPr lang="en-US" dirty="0"/>
          </a:p>
          <a:p>
            <a:pPr lvl="1"/>
            <a:r>
              <a:rPr lang="en-US" b="1" dirty="0"/>
              <a:t>Hubs</a:t>
            </a:r>
            <a:endParaRPr lang="en-US" dirty="0"/>
          </a:p>
          <a:p>
            <a:pPr lvl="1"/>
            <a:r>
              <a:rPr lang="en-US" b="1" dirty="0"/>
              <a:t>Network Interface Cards (NICs)</a:t>
            </a:r>
            <a:r>
              <a:rPr lang="en-US" dirty="0"/>
              <a:t> (partially)</a:t>
            </a:r>
          </a:p>
          <a:p>
            <a:pPr lvl="1"/>
            <a:r>
              <a:rPr lang="en-US" b="1" dirty="0"/>
              <a:t>Repeaters</a:t>
            </a:r>
            <a:endParaRPr lang="en-US" dirty="0"/>
          </a:p>
          <a:p>
            <a:pPr lvl="1"/>
            <a:r>
              <a:rPr lang="en-US" b="1" dirty="0"/>
              <a:t>Modems</a:t>
            </a:r>
            <a:r>
              <a:rPr lang="en-US" dirty="0"/>
              <a:t> (for some types of communication)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4266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85B6-4EC0-0358-EA88-40C54413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50931" cy="2672365"/>
          </a:xfrm>
        </p:spPr>
        <p:txBody>
          <a:bodyPr/>
          <a:lstStyle/>
          <a:p>
            <a:r>
              <a:rPr lang="en-US" dirty="0"/>
              <a:t>OSI vs TCP/IP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132FF2-496C-63FB-6D0B-717E6CF3A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176966"/>
              </p:ext>
            </p:extLst>
          </p:nvPr>
        </p:nvGraphicFramePr>
        <p:xfrm>
          <a:off x="4043853" y="182880"/>
          <a:ext cx="7948451" cy="64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240">
                  <a:extLst>
                    <a:ext uri="{9D8B030D-6E8A-4147-A177-3AD203B41FA5}">
                      <a16:colId xmlns:a16="http://schemas.microsoft.com/office/drawing/2014/main" val="1425508913"/>
                    </a:ext>
                  </a:extLst>
                </a:gridCol>
                <a:gridCol w="1976241">
                  <a:extLst>
                    <a:ext uri="{9D8B030D-6E8A-4147-A177-3AD203B41FA5}">
                      <a16:colId xmlns:a16="http://schemas.microsoft.com/office/drawing/2014/main" val="528246816"/>
                    </a:ext>
                  </a:extLst>
                </a:gridCol>
                <a:gridCol w="1890485">
                  <a:extLst>
                    <a:ext uri="{9D8B030D-6E8A-4147-A177-3AD203B41FA5}">
                      <a16:colId xmlns:a16="http://schemas.microsoft.com/office/drawing/2014/main" val="3256559339"/>
                    </a:ext>
                  </a:extLst>
                </a:gridCol>
                <a:gridCol w="1890485">
                  <a:extLst>
                    <a:ext uri="{9D8B030D-6E8A-4147-A177-3AD203B41FA5}">
                      <a16:colId xmlns:a16="http://schemas.microsoft.com/office/drawing/2014/main" val="3104652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TCP/IP (Suite of protocols)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612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 users to access network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4 Application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dirty="0"/>
                        <a:t>Enable user (human or software) to access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995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Translates, encrypts, compresses data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660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Create, terminate, and manages sessions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95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Manages delivery and error checking of packets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Manages delivery and error checking of packets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623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Identify shortest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Identify shortest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6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Data Link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packed into frames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 Network   Interface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Data packed into frames. Forms a physical medium for delivery of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70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Physical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Forms a physical medium for transport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809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2478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E516-468A-6E3A-321D-1F7763AA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0910DE-681C-A2C6-83E0-9EDDA8BD1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100819"/>
              </p:ext>
            </p:extLst>
          </p:nvPr>
        </p:nvGraphicFramePr>
        <p:xfrm>
          <a:off x="838200" y="1825625"/>
          <a:ext cx="10515597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94883011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7343891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18868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TCP/IP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149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Expands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Transmission Control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System Interconnect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629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Client Server model used for transmission of data over 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Theoretical model used for computing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83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 layers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42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Developed by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DoD (Department of Defense)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ISO (International Standards Organization)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927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Tangible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971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Mostly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Never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89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Obeys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Horizontal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Vertical approach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677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16368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5EDA-6E03-32D0-C0C9-F95F1882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0BF20-A2F1-2D4B-B840-219837074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Application Layer:  </a:t>
            </a:r>
          </a:p>
          <a:p>
            <a:pPr marL="457200" lvl="1" indent="0">
              <a:buNone/>
            </a:pPr>
            <a:r>
              <a:rPr lang="en-US" sz="1200" dirty="0"/>
              <a:t>HTTP / HTTPS	FTP	SMTP	POP3/IMAP		DNS		</a:t>
            </a:r>
          </a:p>
          <a:p>
            <a:pPr marL="457200" lvl="1" indent="0">
              <a:buNone/>
            </a:pPr>
            <a:r>
              <a:rPr lang="en-US" sz="1200" dirty="0"/>
              <a:t>Telnet/SSH	SNMP	DHCP	NTP</a:t>
            </a:r>
          </a:p>
          <a:p>
            <a:pPr marL="0" indent="0">
              <a:buNone/>
            </a:pPr>
            <a:r>
              <a:rPr lang="en-US" b="1" dirty="0"/>
              <a:t>Transport Layer: </a:t>
            </a:r>
          </a:p>
          <a:p>
            <a:pPr marL="457200" lvl="1" indent="0">
              <a:buNone/>
            </a:pPr>
            <a:r>
              <a:rPr lang="en-US" sz="1200" dirty="0"/>
              <a:t>TCP			UDP</a:t>
            </a:r>
          </a:p>
          <a:p>
            <a:pPr marL="0" indent="0">
              <a:buNone/>
            </a:pPr>
            <a:r>
              <a:rPr lang="en-US" b="1" dirty="0"/>
              <a:t>Internet Layer:  </a:t>
            </a:r>
          </a:p>
          <a:p>
            <a:pPr marL="457200" lvl="1" indent="0">
              <a:buNone/>
            </a:pPr>
            <a:r>
              <a:rPr lang="en-US" sz="1200" dirty="0"/>
              <a:t>IP (IPv4, IPv6)	 ICMP 	ARP	,RARP</a:t>
            </a:r>
          </a:p>
          <a:p>
            <a:pPr marL="0" indent="0">
              <a:buNone/>
            </a:pPr>
            <a:r>
              <a:rPr lang="en-US" b="1" dirty="0"/>
              <a:t>Link Layer (Network Interface Layer): </a:t>
            </a:r>
          </a:p>
          <a:p>
            <a:pPr marL="457200" lvl="1" indent="0">
              <a:buNone/>
            </a:pPr>
            <a:r>
              <a:rPr lang="en-US" sz="1200" dirty="0"/>
              <a:t>Ethernet	 Wi-Fi	PPP	Frame Relay		MAC</a:t>
            </a:r>
          </a:p>
        </p:txBody>
      </p:sp>
    </p:spTree>
    <p:extLst>
      <p:ext uri="{BB962C8B-B14F-4D97-AF65-F5344CB8AC3E}">
        <p14:creationId xmlns:p14="http://schemas.microsoft.com/office/powerpoint/2010/main" val="32013539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5EDA-6E03-32D0-C0C9-F95F1882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0BF20-A2F1-2D4B-B840-219837074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Application Layer:  </a:t>
            </a:r>
          </a:p>
          <a:p>
            <a:pPr marL="0" indent="0">
              <a:buNone/>
            </a:pPr>
            <a:r>
              <a:rPr lang="en-US" sz="1600" dirty="0"/>
              <a:t>Servers (web servers, email servers, application servers that host / manage services like HTTP, FTP, SMTP, and DNS)</a:t>
            </a:r>
          </a:p>
          <a:p>
            <a:pPr marL="0" indent="0">
              <a:buNone/>
            </a:pPr>
            <a:r>
              <a:rPr lang="en-US" b="1" dirty="0"/>
              <a:t>Transport Layer: </a:t>
            </a:r>
          </a:p>
          <a:p>
            <a:pPr marL="0" indent="0">
              <a:buNone/>
            </a:pPr>
            <a:r>
              <a:rPr lang="en-US" sz="1600" dirty="0"/>
              <a:t>Gateways </a:t>
            </a:r>
          </a:p>
          <a:p>
            <a:pPr marL="0" indent="0">
              <a:buNone/>
            </a:pPr>
            <a:r>
              <a:rPr lang="en-US" sz="1600" dirty="0"/>
              <a:t>Load balancers</a:t>
            </a:r>
          </a:p>
          <a:p>
            <a:pPr marL="0" indent="0">
              <a:buNone/>
            </a:pPr>
            <a:r>
              <a:rPr lang="en-US" b="1" dirty="0"/>
              <a:t>Internet Layer:  </a:t>
            </a:r>
          </a:p>
          <a:p>
            <a:pPr marL="0" indent="0">
              <a:buNone/>
            </a:pPr>
            <a:r>
              <a:rPr lang="en-US" sz="1600" dirty="0"/>
              <a:t>Routers</a:t>
            </a:r>
          </a:p>
          <a:p>
            <a:pPr marL="0" indent="0">
              <a:buNone/>
            </a:pPr>
            <a:r>
              <a:rPr lang="en-US" sz="1600" dirty="0"/>
              <a:t>Layer 3 Switches</a:t>
            </a:r>
          </a:p>
          <a:p>
            <a:pPr marL="0" indent="0">
              <a:buNone/>
            </a:pPr>
            <a:r>
              <a:rPr lang="en-US" b="1" dirty="0"/>
              <a:t>Link Layer </a:t>
            </a:r>
            <a:r>
              <a:rPr lang="en-US" dirty="0"/>
              <a:t>(Network Interface Layer): </a:t>
            </a:r>
          </a:p>
          <a:p>
            <a:pPr marL="0" indent="0">
              <a:buNone/>
            </a:pPr>
            <a:r>
              <a:rPr lang="en-US" sz="1600" dirty="0"/>
              <a:t>NICs		Switches		Hubs		Bridges		Access Points	Modems		</a:t>
            </a:r>
          </a:p>
          <a:p>
            <a:pPr marL="0" indent="0">
              <a:buNone/>
            </a:pPr>
            <a:r>
              <a:rPr lang="en-US" sz="1600" dirty="0"/>
              <a:t>fiber optic cables	Physical media (Cat5e, Cat6), </a:t>
            </a:r>
          </a:p>
        </p:txBody>
      </p:sp>
    </p:spTree>
    <p:extLst>
      <p:ext uri="{BB962C8B-B14F-4D97-AF65-F5344CB8AC3E}">
        <p14:creationId xmlns:p14="http://schemas.microsoft.com/office/powerpoint/2010/main" val="42668520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912F-72FA-ECA1-C1B4-3E0F2621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1990s: Internet Growth and Adoption of TCP/IP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CFCA9-EB4E-5ED3-484A-2A7EC108D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1990</a:t>
            </a:r>
            <a:r>
              <a:rPr lang="en-US" dirty="0"/>
              <a:t>: ARPANET is officially decommissioned, but the Internet continues to grow, with TCP/IP as its core protocol.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OSI model used for academic purposes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0647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912F-72FA-ECA1-C1B4-3E0F2621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1990s: Internet Growth and Adoption of TCP/IP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CFCA9-EB4E-5ED3-484A-2A7EC108D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1991</a:t>
            </a:r>
            <a:r>
              <a:rPr lang="en-US" dirty="0"/>
              <a:t>: The World Wide Web is introduced by Tim Berners-Lee, rapidly accelerating the adoption of TCP/IP globally.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3306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F543-2633-D985-268C-1C6F4DA97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2000s and Beyond: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96D7B-DAED-F83B-4CCE-7C791DEF5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2000s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The OSI model remains a fundamental part of networking education, </a:t>
            </a:r>
          </a:p>
          <a:p>
            <a:pPr lvl="1"/>
            <a:r>
              <a:rPr lang="en-US" dirty="0"/>
              <a:t>TCP/IP continues to be the dominant protocol suite for Internet communication.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9840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F543-2633-D985-268C-1C6F4DA97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2000s and Beyond: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96D7B-DAED-F83B-4CCE-7C791DEF5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2010s-2020s</a:t>
            </a:r>
            <a:r>
              <a:rPr lang="en-US" dirty="0"/>
              <a:t>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Continued growth of the Internet of Things (IoT), cloud computing, and mobile networks,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TCP/IP remains central to global connectivity</a:t>
            </a:r>
            <a:r>
              <a:rPr lang="en-US"/>
              <a:t>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OSI </a:t>
            </a:r>
            <a:r>
              <a:rPr lang="en-US" dirty="0"/>
              <a:t>model continues to influence protocol development and network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5690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ACFF-4B8A-6A2E-45CC-04B702B3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FE04-2554-5FBD-57AA-61C1469B6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Thoughts? Questions?</a:t>
            </a:r>
          </a:p>
        </p:txBody>
      </p:sp>
    </p:spTree>
    <p:extLst>
      <p:ext uri="{BB962C8B-B14F-4D97-AF65-F5344CB8AC3E}">
        <p14:creationId xmlns:p14="http://schemas.microsoft.com/office/powerpoint/2010/main" val="2574853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2422</TotalTime>
  <Words>3706</Words>
  <Application>Microsoft Macintosh PowerPoint</Application>
  <PresentationFormat>Widescreen</PresentationFormat>
  <Paragraphs>480</Paragraphs>
  <Slides>64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Aptos</vt:lpstr>
      <vt:lpstr>Aptos Display</vt:lpstr>
      <vt:lpstr>Arial</vt:lpstr>
      <vt:lpstr>Office Theme</vt:lpstr>
      <vt:lpstr>Computer Networking:  a brief history</vt:lpstr>
      <vt:lpstr>Central Challenge:</vt:lpstr>
      <vt:lpstr>Packet Switching</vt:lpstr>
      <vt:lpstr>Leonard’s Big Idea:</vt:lpstr>
      <vt:lpstr>Circuit vs Packet Switching:  Book Analogy</vt:lpstr>
      <vt:lpstr>First Connection (1965): MIT to California</vt:lpstr>
      <vt:lpstr>Birth of ARPANET (1969) </vt:lpstr>
      <vt:lpstr>ARPANET Design Principles</vt:lpstr>
      <vt:lpstr>ARPANET 1969</vt:lpstr>
      <vt:lpstr>ARPANET 1970</vt:lpstr>
      <vt:lpstr>ARPANET 1971 (15 Nodes, 23 Hosts – Email!)</vt:lpstr>
      <vt:lpstr>ARPANET 1972</vt:lpstr>
      <vt:lpstr>ARPANET 1973 (40+ Nodes/Hosts)</vt:lpstr>
      <vt:lpstr>HOSTS.TXT Problem</vt:lpstr>
      <vt:lpstr>Growing Pains (late 1970s)</vt:lpstr>
      <vt:lpstr>The Fix (1983)</vt:lpstr>
      <vt:lpstr>Wide Area Networks (WANS) Solved</vt:lpstr>
      <vt:lpstr>Local Area Networks (LANs) Unsolved</vt:lpstr>
      <vt:lpstr>LAN problem (it’s own history):</vt:lpstr>
      <vt:lpstr>ALOHAnet (1971)</vt:lpstr>
      <vt:lpstr>Xerox PARC (1973) </vt:lpstr>
      <vt:lpstr>Early 70s:   </vt:lpstr>
      <vt:lpstr>The need:</vt:lpstr>
      <vt:lpstr>1970s: Development of Early Networking Protocols </vt:lpstr>
      <vt:lpstr>1970s: Development of Early Networking Protocols </vt:lpstr>
      <vt:lpstr>1970s: Development of Early Networking Protocols </vt:lpstr>
      <vt:lpstr>The LAN Protocol Wars  (1980s –  1990s)</vt:lpstr>
      <vt:lpstr>Novell NetWare (1983)</vt:lpstr>
      <vt:lpstr>Microsoft’s Answer:</vt:lpstr>
      <vt:lpstr>The Problem</vt:lpstr>
      <vt:lpstr>The Landscape (late 1980s early 1990s)</vt:lpstr>
      <vt:lpstr>TCP/IP Advantages</vt:lpstr>
      <vt:lpstr>The Network Security Challenge (1980s – 1990s)</vt:lpstr>
      <vt:lpstr>The Security Questions</vt:lpstr>
      <vt:lpstr>Early Solutions</vt:lpstr>
      <vt:lpstr>Novell NetWare Directory Services (NDS) 1993</vt:lpstr>
      <vt:lpstr>What NDS Solved</vt:lpstr>
      <vt:lpstr>Impact of NDS</vt:lpstr>
      <vt:lpstr>Microsoft’s Active Directory (AD)</vt:lpstr>
      <vt:lpstr>Why AD Succeeded</vt:lpstr>
      <vt:lpstr>Evolution of Network Security</vt:lpstr>
      <vt:lpstr>Overview: Open Systems Interface (OSI)</vt:lpstr>
      <vt:lpstr>Before Standardized Protocols</vt:lpstr>
      <vt:lpstr>Review: Proprietary Protocols and Structures</vt:lpstr>
      <vt:lpstr>1980s: Standardization and Emergence of Networking Models </vt:lpstr>
      <vt:lpstr>1980s: Standardization and Emergence of Networking Models </vt:lpstr>
      <vt:lpstr>1980s: Standardization and Emergence of Networking Models </vt:lpstr>
      <vt:lpstr>OSI Model</vt:lpstr>
      <vt:lpstr>Application Layer (Layer 7)</vt:lpstr>
      <vt:lpstr>Presentation Layer (Layer 6)</vt:lpstr>
      <vt:lpstr>Session Layer (Layer 5)</vt:lpstr>
      <vt:lpstr>Transport Layer (Layer 4)</vt:lpstr>
      <vt:lpstr>Network Layer (Layer 3)</vt:lpstr>
      <vt:lpstr>Data Link Layer (Layer 2)</vt:lpstr>
      <vt:lpstr>Physical Layer (Layer 1)</vt:lpstr>
      <vt:lpstr>OSI vs TCP/IP</vt:lpstr>
      <vt:lpstr>Direct Comparison</vt:lpstr>
      <vt:lpstr>TCP/IP Protocols</vt:lpstr>
      <vt:lpstr>TCP/IP Hardware</vt:lpstr>
      <vt:lpstr>1990s: Internet Growth and Adoption of TCP/IP</vt:lpstr>
      <vt:lpstr>1990s: Internet Growth and Adoption of TCP/IP</vt:lpstr>
      <vt:lpstr>2000s and Beyond:</vt:lpstr>
      <vt:lpstr>2000s and Beyond: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Eve</dc:creator>
  <cp:lastModifiedBy>David Eve</cp:lastModifiedBy>
  <cp:revision>11</cp:revision>
  <cp:lastPrinted>2025-11-05T17:58:19Z</cp:lastPrinted>
  <dcterms:created xsi:type="dcterms:W3CDTF">2024-08-01T22:26:48Z</dcterms:created>
  <dcterms:modified xsi:type="dcterms:W3CDTF">2025-11-05T18:07:12Z</dcterms:modified>
</cp:coreProperties>
</file>