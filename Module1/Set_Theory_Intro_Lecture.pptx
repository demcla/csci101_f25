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2" r:id="rId12"/>
    <p:sldId id="270" r:id="rId13"/>
    <p:sldId id="269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23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05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Set Theory: A Foundational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101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Definition</a:t>
            </a:r>
            <a:r>
              <a:rPr lang="en-US" sz="2400" dirty="0"/>
              <a:t>: </a:t>
            </a:r>
            <a:r>
              <a:rPr sz="2400" dirty="0"/>
              <a:t>A set is a well-defined collection of distinct elements (or members), commonly used in mathematics and computer science.</a:t>
            </a:r>
          </a:p>
          <a:p>
            <a:pPr marL="0" indent="0">
              <a:buNone/>
            </a:pPr>
            <a:r>
              <a:rPr sz="2400" b="1" dirty="0"/>
              <a:t>Key Characteristics:</a:t>
            </a:r>
          </a:p>
          <a:p>
            <a:pPr lvl="1"/>
            <a:r>
              <a:rPr sz="2000" dirty="0"/>
              <a:t>Unordered: {1, 2, 3} is the same as {3, 1, 2}</a:t>
            </a:r>
          </a:p>
          <a:p>
            <a:pPr lvl="1"/>
            <a:r>
              <a:rPr sz="2000" dirty="0"/>
              <a:t>No duplicates: {1, 1, 2} simplifies to {1, 2}</a:t>
            </a:r>
          </a:p>
          <a:p>
            <a:pPr lvl="1"/>
            <a:r>
              <a:rPr sz="2000" dirty="0"/>
              <a:t>Notation: Curly braces are used to define sets, e.g., A = {x, y, z}</a:t>
            </a:r>
          </a:p>
          <a:p>
            <a:pPr lvl="1"/>
            <a:r>
              <a:rPr sz="2000" dirty="0"/>
              <a:t>Element Types: Elements may include numbers, letters, objects, or even other sets</a:t>
            </a:r>
          </a:p>
          <a:p>
            <a:pPr marL="0" indent="0">
              <a:buNone/>
            </a:pPr>
            <a:r>
              <a:rPr sz="2400" b="1" dirty="0"/>
              <a:t>Common Notation:</a:t>
            </a:r>
          </a:p>
          <a:p>
            <a:pPr lvl="1"/>
            <a:r>
              <a:rPr sz="2000" dirty="0"/>
              <a:t>x ∈ A: x is an element of set A</a:t>
            </a:r>
          </a:p>
          <a:p>
            <a:pPr lvl="1"/>
            <a:r>
              <a:rPr sz="2000" dirty="0"/>
              <a:t>x ∉ A: x is not an element of set A</a:t>
            </a:r>
          </a:p>
          <a:p>
            <a:pPr lvl="1"/>
            <a:r>
              <a:rPr sz="2000" dirty="0"/>
              <a:t>|A| or n(A): Cardinality (the number of </a:t>
            </a:r>
            <a:r>
              <a:rPr sz="2200" dirty="0"/>
              <a:t>elements in 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Fundamental Set Types and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Universal Set (U): </a:t>
            </a:r>
            <a:r>
              <a:rPr sz="2400" dirty="0"/>
              <a:t>The set of all elements under discussion</a:t>
            </a:r>
          </a:p>
          <a:p>
            <a:pPr marL="0" indent="0">
              <a:buNone/>
            </a:pPr>
            <a:r>
              <a:rPr sz="2400" b="1" dirty="0"/>
              <a:t>Empty Set (∅ or {})</a:t>
            </a:r>
            <a:r>
              <a:rPr sz="2400" dirty="0"/>
              <a:t>: A set with no elements</a:t>
            </a:r>
          </a:p>
          <a:p>
            <a:pPr marL="0" indent="0">
              <a:buNone/>
            </a:pPr>
            <a:r>
              <a:rPr sz="2400" b="1" dirty="0"/>
              <a:t>Subset (⊆): </a:t>
            </a:r>
            <a:r>
              <a:rPr sz="2400" dirty="0"/>
              <a:t>A is a subset of B if all elements of A are in B</a:t>
            </a:r>
          </a:p>
          <a:p>
            <a:pPr marL="0" indent="0">
              <a:buNone/>
            </a:pPr>
            <a:r>
              <a:rPr sz="2400" b="1" dirty="0"/>
              <a:t>Proper Subset (⊂): </a:t>
            </a:r>
            <a:r>
              <a:rPr sz="2400" dirty="0"/>
              <a:t>A ⊂ B if A ⊆ B and A ≠ B</a:t>
            </a:r>
          </a:p>
          <a:p>
            <a:pPr marL="0" indent="0">
              <a:buNone/>
            </a:pPr>
            <a:r>
              <a:rPr sz="2400" b="1" dirty="0"/>
              <a:t>Set Equality (=): </a:t>
            </a:r>
            <a:r>
              <a:rPr sz="2400" dirty="0"/>
              <a:t>A = B if both sets contain exactly the same elements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Complement</a:t>
            </a:r>
            <a:r>
              <a:rPr sz="2400" dirty="0"/>
              <a:t> (A′ or ~A or Aᶜ): Elements in the universal set U that are not in A</a:t>
            </a:r>
          </a:p>
          <a:p>
            <a:pPr marL="0" indent="0">
              <a:buNone/>
            </a:pPr>
            <a:r>
              <a:rPr sz="2400" b="1" dirty="0"/>
              <a:t>Union (A ∪ B): </a:t>
            </a:r>
            <a:r>
              <a:rPr sz="2400" dirty="0"/>
              <a:t>All elements in A or B (or both)</a:t>
            </a:r>
          </a:p>
          <a:p>
            <a:pPr marL="0" indent="0">
              <a:buNone/>
            </a:pPr>
            <a:r>
              <a:rPr sz="2400" b="1" dirty="0"/>
              <a:t>Intersection (A ∩ B): </a:t>
            </a:r>
            <a:r>
              <a:rPr sz="2400" dirty="0"/>
              <a:t>Elements in both A and B</a:t>
            </a:r>
          </a:p>
          <a:p>
            <a:pPr marL="0" indent="0">
              <a:buNone/>
            </a:pPr>
            <a:r>
              <a:rPr sz="2400" b="1" dirty="0"/>
              <a:t>Difference (A – B or A \ B)</a:t>
            </a:r>
            <a:r>
              <a:rPr sz="2400" dirty="0"/>
              <a:t>: Elements in A but not in B</a:t>
            </a:r>
          </a:p>
          <a:p>
            <a:pPr marL="0" indent="0">
              <a:buNone/>
            </a:pPr>
            <a:r>
              <a:rPr sz="2400" b="1" dirty="0"/>
              <a:t>Symmetric Difference (A △ B or A ⊕ B):</a:t>
            </a:r>
            <a:r>
              <a:rPr sz="2400" dirty="0"/>
              <a:t> Elements in A or B, but not both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U = {a, b, c, d, e, f, g, h, </a:t>
            </a:r>
            <a:r>
              <a:rPr dirty="0" err="1"/>
              <a:t>i</a:t>
            </a:r>
            <a:r>
              <a:rPr dirty="0"/>
              <a:t>, j, k}</a:t>
            </a:r>
          </a:p>
          <a:p>
            <a:pPr marL="0" indent="0">
              <a:buNone/>
            </a:pPr>
            <a:r>
              <a:rPr dirty="0"/>
              <a:t>A = {a, b, c, d, e}, B = {c, e, j, k}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A′ = {f, g, h, </a:t>
            </a:r>
            <a:r>
              <a:rPr dirty="0" err="1"/>
              <a:t>i</a:t>
            </a:r>
            <a:r>
              <a:rPr dirty="0"/>
              <a:t>, j, k}</a:t>
            </a:r>
          </a:p>
          <a:p>
            <a:pPr marL="0" indent="0">
              <a:buNone/>
            </a:pPr>
            <a:r>
              <a:rPr dirty="0"/>
              <a:t>A ∪ B = {a, b, c, d, e, j, k}</a:t>
            </a:r>
          </a:p>
          <a:p>
            <a:pPr marL="0" indent="0">
              <a:buNone/>
            </a:pPr>
            <a:r>
              <a:rPr dirty="0"/>
              <a:t>A ∩ B = {c, e}</a:t>
            </a:r>
          </a:p>
          <a:p>
            <a:pPr marL="0" indent="0">
              <a:buNone/>
            </a:pPr>
            <a:r>
              <a:rPr dirty="0"/>
              <a:t>A – B = {a, b, d}</a:t>
            </a:r>
          </a:p>
          <a:p>
            <a:pPr marL="0" indent="0">
              <a:buNone/>
            </a:pPr>
            <a:r>
              <a:rPr dirty="0"/>
              <a:t>B – A = {j, k}</a:t>
            </a:r>
          </a:p>
          <a:p>
            <a:pPr marL="0" indent="0">
              <a:buNone/>
            </a:pPr>
            <a:r>
              <a:rPr dirty="0"/>
              <a:t>A △ B = {a, b, d, j, k}</a:t>
            </a:r>
          </a:p>
          <a:p>
            <a:pPr marL="0" indent="0">
              <a:buNone/>
            </a:pPr>
            <a:r>
              <a:rPr dirty="0"/>
              <a:t>A ⊆ U → True</a:t>
            </a:r>
          </a:p>
          <a:p>
            <a:pPr marL="0" indent="0">
              <a:buNone/>
            </a:pPr>
            <a:r>
              <a:rPr dirty="0"/>
              <a:t>A ⊆ B → 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39FC-7844-64D4-F644-C7121A53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E8260-6F75-3FF9-BBDE-331AD2C7D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Students Taking Courses</a:t>
            </a:r>
          </a:p>
          <a:p>
            <a:pPr marL="400050" lvl="1" indent="0">
              <a:buNone/>
            </a:pPr>
            <a:r>
              <a:rPr lang="en-US" b="1" dirty="0"/>
              <a:t>Given: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45 students take Math</a:t>
            </a:r>
          </a:p>
          <a:p>
            <a:pPr marL="400050" lvl="1" indent="0">
              <a:buNone/>
            </a:pPr>
            <a:r>
              <a:rPr lang="en-US" dirty="0"/>
              <a:t>35 students take Physics</a:t>
            </a:r>
          </a:p>
          <a:p>
            <a:pPr marL="400050" lvl="1" indent="0">
              <a:buNone/>
            </a:pPr>
            <a:r>
              <a:rPr lang="en-US" dirty="0"/>
              <a:t>20 students take both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400050" lvl="1" indent="0">
              <a:buNone/>
            </a:pPr>
            <a:r>
              <a:rPr lang="en-US" dirty="0"/>
              <a:t>How many students take Math or Physics?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Solution: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∣M∪P∣=∣M∣+∣P∣−∣M∩P∣</a:t>
            </a:r>
          </a:p>
          <a:p>
            <a:pPr marL="400050" lvl="1" indent="0">
              <a:buNone/>
            </a:pPr>
            <a:r>
              <a:rPr lang="en-US" dirty="0"/>
              <a:t>∣M∪P∣=45+35−20=60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43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A7F3-EFCA-5071-0872-2068203D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5040-CE73-9A51-5843-833A4B76A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Beverage Preferences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Given:</a:t>
            </a:r>
          </a:p>
          <a:p>
            <a:pPr marL="400050" lvl="1" indent="0">
              <a:buNone/>
            </a:pPr>
            <a:r>
              <a:rPr lang="en-US" dirty="0"/>
              <a:t>30 like tea</a:t>
            </a:r>
          </a:p>
          <a:p>
            <a:pPr marL="400050" lvl="1" indent="0">
              <a:buNone/>
            </a:pPr>
            <a:r>
              <a:rPr lang="en-US" dirty="0"/>
              <a:t>20 like coffee</a:t>
            </a:r>
          </a:p>
          <a:p>
            <a:pPr marL="400050" lvl="1" indent="0">
              <a:buNone/>
            </a:pPr>
            <a:r>
              <a:rPr lang="en-US" dirty="0"/>
              <a:t>10 like both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400050" lvl="1" indent="0">
              <a:buNone/>
            </a:pPr>
            <a:r>
              <a:rPr lang="en-US" dirty="0"/>
              <a:t>How many like only tea or only coffee?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Solution:</a:t>
            </a:r>
          </a:p>
          <a:p>
            <a:pPr marL="400050" lvl="1" indent="0">
              <a:buNone/>
            </a:pPr>
            <a:r>
              <a:rPr lang="en-US" dirty="0"/>
              <a:t>Only tea: 30 − 10 = 20</a:t>
            </a:r>
          </a:p>
          <a:p>
            <a:pPr marL="400050" lvl="1" indent="0">
              <a:buNone/>
            </a:pPr>
            <a:r>
              <a:rPr lang="en-US" dirty="0"/>
              <a:t>Only coffee: 20 − 10 = 10</a:t>
            </a:r>
          </a:p>
          <a:p>
            <a:pPr marL="400050" lvl="1" indent="0">
              <a:buNone/>
            </a:pPr>
            <a:r>
              <a:rPr lang="en-US" dirty="0"/>
              <a:t>Total (exclusive): 20 + 10 = 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86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C7CD-03D2-6042-EEA6-B03DEFE4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EAAB3-79E8-ED54-AA88-3C06C58A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Library Books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Given:</a:t>
            </a:r>
          </a:p>
          <a:p>
            <a:pPr marL="400050" lvl="1" indent="0">
              <a:buNone/>
            </a:pPr>
            <a:r>
              <a:rPr lang="en-US" dirty="0"/>
              <a:t>120 English books</a:t>
            </a:r>
          </a:p>
          <a:p>
            <a:pPr marL="400050" lvl="1" indent="0">
              <a:buNone/>
            </a:pPr>
            <a:r>
              <a:rPr lang="en-US" dirty="0"/>
              <a:t>80 Spanish books</a:t>
            </a:r>
          </a:p>
          <a:p>
            <a:pPr marL="400050" lvl="1" indent="0">
              <a:buNone/>
            </a:pPr>
            <a:r>
              <a:rPr lang="en-US" dirty="0"/>
              <a:t>50 are bilingual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400050" lvl="1" indent="0">
              <a:buNone/>
            </a:pPr>
            <a:r>
              <a:rPr lang="en-US" dirty="0"/>
              <a:t>How many (Total) unique books: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Solution:</a:t>
            </a:r>
          </a:p>
          <a:p>
            <a:pPr marL="800100" lvl="2" indent="0">
              <a:buNone/>
            </a:pPr>
            <a:r>
              <a:rPr lang="en-US" dirty="0"/>
              <a:t>∣E∪S∣=120+80−50=150</a:t>
            </a:r>
          </a:p>
        </p:txBody>
      </p:sp>
    </p:spTree>
    <p:extLst>
      <p:ext uri="{BB962C8B-B14F-4D97-AF65-F5344CB8AC3E}">
        <p14:creationId xmlns:p14="http://schemas.microsoft.com/office/powerpoint/2010/main" val="239457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1E133-7A3B-9435-5402-4662903B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5CB9-A5C7-4225-5407-CB807EFFC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Workshop Attendance</a:t>
            </a:r>
            <a:endParaRPr lang="en-US" dirty="0"/>
          </a:p>
          <a:p>
            <a:pPr marL="400050" lvl="1" indent="0">
              <a:buNone/>
            </a:pPr>
            <a:r>
              <a:rPr lang="en-US" b="1" dirty="0"/>
              <a:t>Given: </a:t>
            </a:r>
          </a:p>
          <a:p>
            <a:pPr marL="400050" lvl="1" indent="0">
              <a:buNone/>
            </a:pPr>
            <a:r>
              <a:rPr lang="en-US" dirty="0"/>
              <a:t>70 in Gardening</a:t>
            </a:r>
          </a:p>
          <a:p>
            <a:pPr marL="400050" lvl="1" indent="0">
              <a:buNone/>
            </a:pPr>
            <a:r>
              <a:rPr lang="en-US" dirty="0"/>
              <a:t>50 in Painting</a:t>
            </a:r>
          </a:p>
          <a:p>
            <a:pPr marL="400050" lvl="1" indent="0">
              <a:buNone/>
            </a:pPr>
            <a:r>
              <a:rPr lang="en-US" dirty="0"/>
              <a:t>30 in both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400050" lvl="1" indent="0">
              <a:buNone/>
            </a:pPr>
            <a:r>
              <a:rPr lang="en-US" b="1" dirty="0"/>
              <a:t>How many are only in Painting?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Solution:</a:t>
            </a:r>
          </a:p>
          <a:p>
            <a:pPr marL="400050" lvl="1" indent="0">
              <a:buNone/>
            </a:pPr>
            <a:r>
              <a:rPr lang="en-US" dirty="0"/>
              <a:t>50−30=20</a:t>
            </a:r>
          </a:p>
        </p:txBody>
      </p:sp>
    </p:spTree>
    <p:extLst>
      <p:ext uri="{BB962C8B-B14F-4D97-AF65-F5344CB8AC3E}">
        <p14:creationId xmlns:p14="http://schemas.microsoft.com/office/powerpoint/2010/main" val="312746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302B-C32B-E1E4-04BB-051EBD90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EBF2-7B95-065F-F0A2-B7335B74A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Programming Skills Survey</a:t>
            </a:r>
            <a:endParaRPr lang="en-US" dirty="0"/>
          </a:p>
          <a:p>
            <a:pPr marL="400050" lvl="1" indent="0">
              <a:buNone/>
            </a:pPr>
            <a:r>
              <a:rPr lang="en-US" b="1" dirty="0"/>
              <a:t>Given: </a:t>
            </a:r>
          </a:p>
          <a:p>
            <a:pPr marL="400050" lvl="1" indent="0">
              <a:buNone/>
            </a:pPr>
            <a:r>
              <a:rPr lang="en-US" dirty="0"/>
              <a:t>60 know JavaScript</a:t>
            </a:r>
          </a:p>
          <a:p>
            <a:pPr marL="400050" lvl="1" indent="0">
              <a:buNone/>
            </a:pPr>
            <a:r>
              <a:rPr lang="en-US" dirty="0"/>
              <a:t>40 know Python</a:t>
            </a:r>
          </a:p>
          <a:p>
            <a:pPr marL="400050" lvl="1" indent="0">
              <a:buNone/>
            </a:pPr>
            <a:r>
              <a:rPr lang="en-US" dirty="0"/>
              <a:t>20 know both</a:t>
            </a:r>
          </a:p>
          <a:p>
            <a:pPr marL="0" indent="0">
              <a:buNone/>
            </a:pPr>
            <a:r>
              <a:rPr lang="en-US" b="1" dirty="0"/>
              <a:t>How many know exactly one language?</a:t>
            </a: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Solution:</a:t>
            </a:r>
          </a:p>
          <a:p>
            <a:pPr marL="400050" lvl="1" indent="0">
              <a:buNone/>
            </a:pPr>
            <a:r>
              <a:rPr lang="en-US" dirty="0"/>
              <a:t>JavaScript only:   60 − 20 = 40</a:t>
            </a:r>
          </a:p>
          <a:p>
            <a:pPr marL="400050" lvl="1" indent="0">
              <a:buNone/>
            </a:pPr>
            <a:r>
              <a:rPr lang="en-US" dirty="0"/>
              <a:t>Python only:       40 − 20 = 20</a:t>
            </a:r>
          </a:p>
          <a:p>
            <a:pPr marL="400050" lvl="1" indent="0">
              <a:buNone/>
            </a:pPr>
            <a:r>
              <a:rPr lang="en-US" b="1" dirty="0"/>
              <a:t>Total with exactly one skill:</a:t>
            </a:r>
            <a:r>
              <a:rPr lang="en-US" dirty="0"/>
              <a:t> 40 + 20 = </a:t>
            </a:r>
            <a:r>
              <a:rPr lang="en-US" b="1" dirty="0"/>
              <a:t>60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60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410"/>
            <a:ext cx="8229600" cy="1143000"/>
          </a:xfrm>
        </p:spPr>
        <p:txBody>
          <a:bodyPr/>
          <a:lstStyle/>
          <a:p>
            <a:r>
              <a:rPr dirty="0"/>
              <a:t>Key Set Laws and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9403"/>
            <a:ext cx="8229600" cy="5848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Commutative Laws</a:t>
            </a:r>
          </a:p>
          <a:p>
            <a:pPr lvl="1"/>
            <a:r>
              <a:rPr lang="en-US" sz="2000" b="1" dirty="0"/>
              <a:t>A ∪ B = B ∪ A</a:t>
            </a:r>
            <a:br>
              <a:rPr lang="en-US" sz="2000" dirty="0"/>
            </a:br>
            <a:r>
              <a:rPr lang="en-US" sz="2000" i="1" dirty="0"/>
              <a:t>Union is order-independent.</a:t>
            </a:r>
            <a:r>
              <a:rPr lang="en-US" sz="2000" dirty="0"/>
              <a:t> The set of all elements in A or B is the same regardless of order.</a:t>
            </a:r>
          </a:p>
          <a:p>
            <a:pPr lvl="1"/>
            <a:r>
              <a:rPr lang="en-US" sz="2000" b="1" dirty="0"/>
              <a:t>A ∩ B = B ∩ A</a:t>
            </a:r>
            <a:br>
              <a:rPr lang="en-US" sz="2000" dirty="0"/>
            </a:br>
            <a:r>
              <a:rPr lang="en-US" sz="2000" i="1" dirty="0"/>
              <a:t>Intersection is order-independent.</a:t>
            </a:r>
            <a:r>
              <a:rPr lang="en-US" sz="2000" dirty="0"/>
              <a:t> The common elements between A and B are the same either way.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Associative Laws</a:t>
            </a:r>
          </a:p>
          <a:p>
            <a:pPr lvl="1"/>
            <a:r>
              <a:rPr lang="en-US" sz="2000" b="1" dirty="0"/>
              <a:t>(A ∪ B) ∪ C = A ∪ (B ∪ C)</a:t>
            </a:r>
            <a:br>
              <a:rPr lang="en-US" sz="2000" dirty="0"/>
            </a:br>
            <a:r>
              <a:rPr lang="en-US" sz="2000" i="1" dirty="0"/>
              <a:t>Grouping doesn’t affect union.</a:t>
            </a:r>
            <a:r>
              <a:rPr lang="en-US" sz="2000" dirty="0"/>
              <a:t> You can combine any two sets first; the result will be the same.</a:t>
            </a:r>
          </a:p>
          <a:p>
            <a:pPr lvl="1"/>
            <a:r>
              <a:rPr lang="en-US" sz="2000" b="1" dirty="0"/>
              <a:t>(A ∩ B) ∩ C = A ∩ (B ∩ C)</a:t>
            </a:r>
            <a:br>
              <a:rPr lang="en-US" sz="2000" dirty="0"/>
            </a:br>
            <a:r>
              <a:rPr lang="en-US" sz="2000" i="1" dirty="0"/>
              <a:t>Grouping doesn’t affect intersection.</a:t>
            </a:r>
            <a:r>
              <a:rPr lang="en-US" sz="2000" dirty="0"/>
              <a:t> You can intersect any two sets first.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8C5C-AC78-BB81-AFD1-F17905F5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E861-FBBF-118E-B511-8E26FF9A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1410"/>
            <a:ext cx="8229600" cy="1143000"/>
          </a:xfrm>
        </p:spPr>
        <p:txBody>
          <a:bodyPr/>
          <a:lstStyle/>
          <a:p>
            <a:r>
              <a:rPr dirty="0"/>
              <a:t>Key Set Laws and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1431-276A-229A-0CE6-888618F25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9403"/>
            <a:ext cx="8229600" cy="5848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Distributive Laws</a:t>
            </a:r>
          </a:p>
          <a:p>
            <a:pPr lvl="1"/>
            <a:r>
              <a:rPr lang="en-US" sz="2000" b="1" dirty="0"/>
              <a:t>A ∩ (B ∪ C) = (A ∩ B) ∪ (A ∩ C)</a:t>
            </a:r>
            <a:br>
              <a:rPr lang="en-US" sz="2000" dirty="0"/>
            </a:br>
            <a:r>
              <a:rPr lang="en-US" sz="2000" i="1" dirty="0"/>
              <a:t>Intersection distributes over union.</a:t>
            </a:r>
            <a:r>
              <a:rPr lang="en-US" sz="2000" dirty="0"/>
              <a:t> Find what A shares with each set individually, then unite the results.</a:t>
            </a:r>
          </a:p>
          <a:p>
            <a:pPr lvl="1"/>
            <a:r>
              <a:rPr lang="en-US" sz="2000" b="1" dirty="0"/>
              <a:t>A ∪ (B ∩ C) = (A ∪ B) ∩ (A ∪ C)</a:t>
            </a:r>
            <a:br>
              <a:rPr lang="en-US" sz="2000" dirty="0"/>
            </a:br>
            <a:r>
              <a:rPr lang="en-US" sz="2000" i="1" dirty="0"/>
              <a:t>Union distributes over intersection.</a:t>
            </a:r>
            <a:r>
              <a:rPr lang="en-US" sz="2000" dirty="0"/>
              <a:t> Combine A with each set first, then find what’s common between those results.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De Morgan’s Laws</a:t>
            </a:r>
          </a:p>
          <a:p>
            <a:pPr lvl="1"/>
            <a:r>
              <a:rPr lang="en-US" sz="2000" b="1" dirty="0"/>
              <a:t>(A ∪ B)′ = A′ ∩ B′</a:t>
            </a:r>
            <a:br>
              <a:rPr lang="en-US" sz="2000" dirty="0"/>
            </a:br>
            <a:r>
              <a:rPr lang="en-US" sz="2000" i="1" dirty="0"/>
              <a:t>The complement of a union is the intersection of the complements.</a:t>
            </a:r>
            <a:endParaRPr lang="en-US" sz="2000" dirty="0"/>
          </a:p>
          <a:p>
            <a:pPr lvl="1"/>
            <a:r>
              <a:rPr lang="en-US" sz="2000" b="1" dirty="0"/>
              <a:t>(A ∩ B)′ = A′ ∪ B′</a:t>
            </a:r>
            <a:br>
              <a:rPr lang="en-US" sz="2000" dirty="0"/>
            </a:br>
            <a:r>
              <a:rPr lang="en-US" sz="2000" i="1" dirty="0"/>
              <a:t>The complement of an intersection is the union of the complements.</a:t>
            </a:r>
            <a:endParaRPr lang="en-US" sz="2000" dirty="0"/>
          </a:p>
          <a:p>
            <a:pPr lvl="1"/>
            <a:r>
              <a:rPr lang="en-US" sz="2000" dirty="0"/>
              <a:t>These are especially important in logic, programming, and Boolean algebra.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900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1ADE-6144-5EBB-D37D-7A19D371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A2D5-C4E1-8597-F0AD-B0940406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Set Laws and Properties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70747-EB6C-C843-C204-D31BA1D6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8" y="1303317"/>
            <a:ext cx="8229600" cy="51449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Identity Laws</a:t>
            </a:r>
          </a:p>
          <a:p>
            <a:pPr lvl="1"/>
            <a:r>
              <a:rPr lang="en-US" sz="2000" b="1" dirty="0"/>
              <a:t>A ∪ ∅ = A</a:t>
            </a:r>
            <a:br>
              <a:rPr lang="en-US" sz="2000" dirty="0"/>
            </a:br>
            <a:r>
              <a:rPr lang="en-US" sz="2000" i="1" dirty="0"/>
              <a:t>Union with the empty set changes nothing.</a:t>
            </a:r>
            <a:r>
              <a:rPr lang="en-US" sz="2000" dirty="0"/>
              <a:t> You're just adding nothing to A.</a:t>
            </a:r>
          </a:p>
          <a:p>
            <a:pPr lvl="1"/>
            <a:r>
              <a:rPr lang="en-US" sz="2000" b="1" dirty="0"/>
              <a:t>A ∩ U = A</a:t>
            </a:r>
            <a:br>
              <a:rPr lang="en-US" sz="2000" dirty="0"/>
            </a:br>
            <a:r>
              <a:rPr lang="en-US" sz="2000" i="1" dirty="0"/>
              <a:t>Intersection with the universal set keeps A.</a:t>
            </a:r>
            <a:r>
              <a:rPr lang="en-US" sz="2000" dirty="0"/>
              <a:t> You're intersecting A with everything.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Symmetric Difference</a:t>
            </a:r>
          </a:p>
          <a:p>
            <a:pPr lvl="1"/>
            <a:r>
              <a:rPr lang="en-US" sz="2000" b="1" dirty="0"/>
              <a:t>A △ B = B △ A</a:t>
            </a:r>
            <a:br>
              <a:rPr lang="en-US" sz="2000" dirty="0"/>
            </a:br>
            <a:r>
              <a:rPr lang="en-US" sz="2000" i="1" dirty="0"/>
              <a:t>Order doesn’t matter for symmetric difference.</a:t>
            </a:r>
            <a:r>
              <a:rPr lang="en-US" sz="2000" dirty="0"/>
              <a:t> It’s commutative.</a:t>
            </a:r>
          </a:p>
          <a:p>
            <a:pPr lvl="1"/>
            <a:r>
              <a:rPr lang="en-US" sz="2000" b="1" dirty="0"/>
              <a:t>A △ A = ∅</a:t>
            </a:r>
            <a:br>
              <a:rPr lang="en-US" sz="2000" dirty="0"/>
            </a:br>
            <a:r>
              <a:rPr lang="en-US" sz="2000" i="1" dirty="0"/>
              <a:t>The symmetric difference of a set with itself is empty.</a:t>
            </a:r>
            <a:r>
              <a:rPr lang="en-US" sz="2000" dirty="0"/>
              <a:t> Everything cancels out.</a:t>
            </a:r>
          </a:p>
        </p:txBody>
      </p:sp>
    </p:spTree>
    <p:extLst>
      <p:ext uri="{BB962C8B-B14F-4D97-AF65-F5344CB8AC3E}">
        <p14:creationId xmlns:p14="http://schemas.microsoft.com/office/powerpoint/2010/main" val="2970380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Set Theory Matters in 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Databases: JOIN, UNION, EXCEPT</a:t>
            </a:r>
          </a:p>
          <a:p>
            <a:r>
              <a:rPr dirty="0"/>
              <a:t>Data Structures: Sets, maps, dictionaries</a:t>
            </a:r>
          </a:p>
          <a:p>
            <a:r>
              <a:rPr dirty="0"/>
              <a:t>Algorithms: Filtering, searching</a:t>
            </a:r>
          </a:p>
          <a:p>
            <a:r>
              <a:rPr dirty="0"/>
              <a:t>Formal Languages: States and transitions</a:t>
            </a:r>
          </a:p>
          <a:p>
            <a:r>
              <a:rPr dirty="0"/>
              <a:t>Digital Logic: XOR gates and Boolean algebra</a:t>
            </a:r>
          </a:p>
          <a:p>
            <a:r>
              <a:rPr dirty="0"/>
              <a:t>Cybersecurity: Cryptographic </a:t>
            </a:r>
            <a:r>
              <a:rPr dirty="0" err="1"/>
              <a:t>keyspaces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1103</Words>
  <Application>Microsoft Macintosh PowerPoint</Application>
  <PresentationFormat>On-screen Show (4:3)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Set Theory: A Foundational Guide</vt:lpstr>
      <vt:lpstr>What Is a Set?</vt:lpstr>
      <vt:lpstr>Fundamental Set Types and Relations</vt:lpstr>
      <vt:lpstr>Core Set Operations</vt:lpstr>
      <vt:lpstr>Example</vt:lpstr>
      <vt:lpstr>Example 1</vt:lpstr>
      <vt:lpstr>Example 2</vt:lpstr>
      <vt:lpstr>Example 3</vt:lpstr>
      <vt:lpstr>Example 4</vt:lpstr>
      <vt:lpstr>Example 5</vt:lpstr>
      <vt:lpstr>Key Set Laws and Properties</vt:lpstr>
      <vt:lpstr>Key Set Laws and Properties</vt:lpstr>
      <vt:lpstr>Key Set Laws and Properties (cont)</vt:lpstr>
      <vt:lpstr>Why Set Theory Matters in 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Eve</cp:lastModifiedBy>
  <cp:revision>3</cp:revision>
  <dcterms:created xsi:type="dcterms:W3CDTF">2013-01-27T09:14:16Z</dcterms:created>
  <dcterms:modified xsi:type="dcterms:W3CDTF">2025-07-17T17:38:53Z</dcterms:modified>
  <cp:category/>
</cp:coreProperties>
</file>